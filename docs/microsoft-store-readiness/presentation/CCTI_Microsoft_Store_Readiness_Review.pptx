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output is a Store-listing readiness package for Claude Code Tools Installer. It includes reviewed draft copy, a screenshot capture system, and an operator sequence. It does not claim that CCTI is in the Store, certified, signed for Store distribution, or ready for submission. First, here is the product story we can truthfully tell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CCTI helps people work through developer-tool setup in clear steps. It keeps shared choices separate from project-level choices, surfaces curated extras, and shows a plan before a proposed change. The copy also states the boundary: CCTI is a setup helper, not a guarantee about third-party tools or services. That product story is useful, but only if the wording remains accurate and policy-safe.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and long descriptions now avoid unsupported claims. They do not say that CCTI is Microsoft-certified, signed, Store-ready, a Windows EXE installer, or affiliated with Anthropic or Claude. We also removed the unverified claim that discovery is read-only by default from the final description. The product name itself requires confirmation against the reserved Partner Center name and approved trademark use. Every remaining feature claim must be checked again against the final Electron build. Search terms needed a concrete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draft had eight terms and included a third-party product title. Microsoft allows at most seven keywords, each with a 40-character maximum and no more than 21 total words. Store policy also prohibits pricing terms and other product titles unless the same publisher owns them. The corrected CCTI set passes: seven terms, 12 to 26 characters each, and 16 total words. The biggest integrity risk is not the text. It is the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screenshot is proof of the product experience. A browser preview, a renderer outside the package, mocked IPC, injected chat output, an AI mockup, a composite, or an image from an old build can look convincing but is not valid Store evidence. The only acceptable source is the normal native app window from the exact installed, clean-Windows-tested MSIX candidate. The manifest converts that principle into a release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template is explicitly marked not for upload. When we reach the capture step, we replace placeholders with observed evidence: the canonical source commit, bundle SHA-256, package identity, full package name, unpacked manifest hash, and clean-Windows test record. Each PNG then records its native window title, UTC capture time, origin, dimensions, byte size, and SHA-256. This lets a reviewer reject a screenshot that came from the wrong build or a mock environment. We plan four strong customer views, even though the formal minimum is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Electron source is available, and the latest successful Store workflow produced an unsigned bundle at commit f62ef8b55e9aaabadb336f8677c588c0fbc5b2e4. The release owner confirms that the policies, public policy URLs, matching screenshots, and required metadata already exist. The remaining work is limited to protected identity configuration, independent verification of the final bundle, and a clean-Windows test record tied to that exact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only three final-candidate controls. First, keep the exact Partner Center identity values in protected build inputs, never in workflow-dispatch inputs which expose them in run history. Second, independently verify the final unsigned bundle, including its checksum and manifests. Third, run the clean-Windows test on that exact bundle SHA-256 and confirm the temporary test certificate is removed. Existing policies and screenshots are not missing; they need to be bound to the final candidate in the evidence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available by owner confirmation: explicit policies, policy URLs, a matching screenshot set, and the required listing metadata. The three controls on the right are the full evidence-production scope. Configure the protected identity, independently verify the resulting final unsigned bundle and its companion checksum, then produce a clean-Windows record tied to that exact bundle SHA-256. Keep the existing screenshots; re-capture only if the final identity build changes their visible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bind, verify, then test. Apply the protected Partner Center identity to the selected commit. Verify the checksum and package manifests for that resulting final unsigned bundle, not merely the earlier pre-final workflow artifact. Then run installation, launch, real workflow, and uninstall checks on clean Windows against the same bundle SHA-256. Finally record the existing policy URLs and screenshot provenance in the final manifest. No separate asset-production phase is needed unless the UI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1614488"/>
            <a:ext cx="8458200" cy="414338"/>
          </a:xfrm>
          <a:prstGeom prst="rect">
            <a:avLst/>
          </a:prstGeom>
          <a:noFill/>
          <a:ln/>
        </p:spPr>
        <p:txBody>
          <a:bodyPr wrap="square" lIns="0" tIns="0" rIns="0" bIns="0" rtlCol="0" anchor="t">
            <a:spAutoFit/>
          </a:bodyPr>
          <a:lstStyle/>
          <a:p>
            <a:pPr algn="l" indent="0" marL="0">
              <a:buNone/>
            </a:pPr>
            <a:r>
              <a:rPr lang="en-US" sz="2450" b="1" spc="-1" kern="0" dirty="0">
                <a:solidFill>
                  <a:srgbClr val="FFFFFF"/>
                </a:solidFill>
                <a:latin typeface="Inter Bold" pitchFamily="34" charset="0"/>
                <a:ea typeface="Inter Bold" pitchFamily="34" charset="-122"/>
                <a:cs typeface="Inter Bold" pitchFamily="34" charset="-120"/>
              </a:rPr>
              <a:t>CCTI Microsoft Store Readiness</a:t>
            </a:r>
            <a:endParaRPr lang="en-US" sz="2450" dirty="0"/>
          </a:p>
        </p:txBody>
      </p:sp>
      <p:sp>
        <p:nvSpPr>
          <p:cNvPr id="5" name="Text 1"/>
          <p:cNvSpPr/>
          <p:nvPr/>
        </p:nvSpPr>
        <p:spPr>
          <a:xfrm>
            <a:off x="342900" y="2143125"/>
            <a:ext cx="8458200" cy="210741"/>
          </a:xfrm>
          <a:prstGeom prst="rect">
            <a:avLst/>
          </a:prstGeom>
          <a:noFill/>
          <a:ln/>
        </p:spPr>
        <p:txBody>
          <a:bodyPr wrap="square" lIns="0" tIns="0" rIns="0" bIns="0" rtlCol="0" anchor="t">
            <a:spAutoFit/>
          </a:bodyPr>
          <a:lstStyle/>
          <a:p>
            <a:pPr algn="l" indent="0" marL="0">
              <a:buNone/>
            </a:pPr>
            <a:r>
              <a:rPr lang="en-US" sz="1250" dirty="0">
                <a:solidFill>
                  <a:srgbClr val="A0A4A8"/>
                </a:solidFill>
                <a:latin typeface="Inter" pitchFamily="34" charset="0"/>
                <a:ea typeface="Inter" pitchFamily="34" charset="-122"/>
                <a:cs typeface="Inter" pitchFamily="34" charset="-120"/>
              </a:rPr>
              <a:t>Release-review framing and status</a:t>
            </a:r>
            <a:endParaRPr lang="en-US" sz="1250" dirty="0"/>
          </a:p>
        </p:txBody>
      </p:sp>
      <p:sp>
        <p:nvSpPr>
          <p:cNvPr id="6" name="Shape 2"/>
          <p:cNvSpPr/>
          <p:nvPr/>
        </p:nvSpPr>
        <p:spPr>
          <a:xfrm>
            <a:off x="342900" y="2811066"/>
            <a:ext cx="2705081" cy="978694"/>
          </a:xfrm>
          <a:prstGeom prst="rect">
            <a:avLst/>
          </a:prstGeom>
          <a:solidFill>
            <a:srgbClr val="25282A"/>
          </a:solidFill>
          <a:ln/>
        </p:spPr>
      </p:sp>
      <p:sp>
        <p:nvSpPr>
          <p:cNvPr id="7" name="Text 3"/>
          <p:cNvSpPr/>
          <p:nvPr/>
        </p:nvSpPr>
        <p:spPr>
          <a:xfrm>
            <a:off x="571500" y="3039666"/>
            <a:ext cx="2247881" cy="132159"/>
          </a:xfrm>
          <a:prstGeom prst="rect">
            <a:avLst/>
          </a:prstGeom>
          <a:noFill/>
          <a:ln/>
        </p:spPr>
        <p:txBody>
          <a:bodyPr wrap="square" lIns="0" tIns="0" rIns="0" bIns="0" rtlCol="0" anchor="t">
            <a:spAutoFit/>
          </a:bodyPr>
          <a:lstStyle/>
          <a:p>
            <a:pPr algn="l" indent="0" marL="0">
              <a:buNone/>
            </a:pPr>
            <a:r>
              <a:rPr lang="en-US" sz="750" dirty="0">
                <a:solidFill>
                  <a:srgbClr val="A0A4A8"/>
                </a:solidFill>
                <a:latin typeface="JetBrains Mono" pitchFamily="34" charset="0"/>
                <a:ea typeface="JetBrains Mono" pitchFamily="34" charset="-122"/>
                <a:cs typeface="JetBrains Mono" pitchFamily="34" charset="-120"/>
              </a:rPr>
              <a:t>DRAFT INPUTS</a:t>
            </a:r>
            <a:endParaRPr lang="en-US" sz="750" dirty="0"/>
          </a:p>
        </p:txBody>
      </p:sp>
      <p:sp>
        <p:nvSpPr>
          <p:cNvPr id="8" name="Text 4"/>
          <p:cNvSpPr/>
          <p:nvPr/>
        </p:nvSpPr>
        <p:spPr>
          <a:xfrm>
            <a:off x="571500" y="3286125"/>
            <a:ext cx="2247881" cy="275034"/>
          </a:xfrm>
          <a:prstGeom prst="rect">
            <a:avLst/>
          </a:prstGeom>
          <a:noFill/>
          <a:ln/>
        </p:spPr>
        <p:txBody>
          <a:bodyPr wrap="square" lIns="0" tIns="0" rIns="0" bIns="0" rtlCol="0" anchor="t">
            <a:spAutoFit/>
          </a:bodyPr>
          <a:lstStyle/>
          <a:p>
            <a:pPr algn="l" indent="0" marL="0">
              <a:buNone/>
            </a:pPr>
            <a:r>
              <a:rPr lang="en-US" sz="1600" b="1" dirty="0">
                <a:solidFill>
                  <a:srgbClr val="107CFF"/>
                </a:solidFill>
                <a:latin typeface="Inter SemiBold" pitchFamily="34" charset="0"/>
                <a:ea typeface="Inter SemiBold" pitchFamily="34" charset="-122"/>
                <a:cs typeface="Inter SemiBold" pitchFamily="34" charset="-120"/>
              </a:rPr>
              <a:t>READY</a:t>
            </a:r>
            <a:endParaRPr lang="en-US" sz="1600" dirty="0"/>
          </a:p>
        </p:txBody>
      </p:sp>
      <p:sp>
        <p:nvSpPr>
          <p:cNvPr id="9" name="Shape 5"/>
          <p:cNvSpPr/>
          <p:nvPr/>
        </p:nvSpPr>
        <p:spPr>
          <a:xfrm>
            <a:off x="3219431" y="2811066"/>
            <a:ext cx="2705081" cy="978694"/>
          </a:xfrm>
          <a:prstGeom prst="rect">
            <a:avLst/>
          </a:prstGeom>
          <a:solidFill>
            <a:srgbClr val="25282A"/>
          </a:solidFill>
          <a:ln/>
        </p:spPr>
      </p:sp>
      <p:sp>
        <p:nvSpPr>
          <p:cNvPr id="10" name="Text 6"/>
          <p:cNvSpPr/>
          <p:nvPr/>
        </p:nvSpPr>
        <p:spPr>
          <a:xfrm>
            <a:off x="3448031" y="3039666"/>
            <a:ext cx="2247881" cy="132159"/>
          </a:xfrm>
          <a:prstGeom prst="rect">
            <a:avLst/>
          </a:prstGeom>
          <a:noFill/>
          <a:ln/>
        </p:spPr>
        <p:txBody>
          <a:bodyPr wrap="square" lIns="0" tIns="0" rIns="0" bIns="0" rtlCol="0" anchor="t">
            <a:spAutoFit/>
          </a:bodyPr>
          <a:lstStyle/>
          <a:p>
            <a:pPr algn="l" indent="0" marL="0">
              <a:buNone/>
            </a:pPr>
            <a:r>
              <a:rPr lang="en-US" sz="750" dirty="0">
                <a:solidFill>
                  <a:srgbClr val="A0A4A8"/>
                </a:solidFill>
                <a:latin typeface="JetBrains Mono" pitchFamily="34" charset="0"/>
                <a:ea typeface="JetBrains Mono" pitchFamily="34" charset="-122"/>
                <a:cs typeface="JetBrains Mono" pitchFamily="34" charset="-120"/>
              </a:rPr>
              <a:t>EVIDENCE CONTROLS</a:t>
            </a:r>
            <a:endParaRPr lang="en-US" sz="750" dirty="0"/>
          </a:p>
        </p:txBody>
      </p:sp>
      <p:sp>
        <p:nvSpPr>
          <p:cNvPr id="11" name="Text 7"/>
          <p:cNvSpPr/>
          <p:nvPr/>
        </p:nvSpPr>
        <p:spPr>
          <a:xfrm>
            <a:off x="3448031" y="3286125"/>
            <a:ext cx="2247881" cy="275034"/>
          </a:xfrm>
          <a:prstGeom prst="rect">
            <a:avLst/>
          </a:prstGeom>
          <a:noFill/>
          <a:ln/>
        </p:spPr>
        <p:txBody>
          <a:bodyPr wrap="square" lIns="0" tIns="0" rIns="0" bIns="0" rtlCol="0" anchor="t">
            <a:spAutoFit/>
          </a:bodyPr>
          <a:lstStyle/>
          <a:p>
            <a:pPr algn="l" indent="0" marL="0">
              <a:buNone/>
            </a:pPr>
            <a:r>
              <a:rPr lang="en-US" sz="1600" b="1" dirty="0">
                <a:solidFill>
                  <a:srgbClr val="107CFF"/>
                </a:solidFill>
                <a:latin typeface="Inter SemiBold" pitchFamily="34" charset="0"/>
                <a:ea typeface="Inter SemiBold" pitchFamily="34" charset="-122"/>
                <a:cs typeface="Inter SemiBold" pitchFamily="34" charset="-120"/>
              </a:rPr>
              <a:t>READY</a:t>
            </a:r>
            <a:endParaRPr lang="en-US" sz="1600" dirty="0"/>
          </a:p>
        </p:txBody>
      </p:sp>
      <p:sp>
        <p:nvSpPr>
          <p:cNvPr id="12" name="Shape 8"/>
          <p:cNvSpPr/>
          <p:nvPr/>
        </p:nvSpPr>
        <p:spPr>
          <a:xfrm>
            <a:off x="6095963" y="2811066"/>
            <a:ext cx="2705081" cy="978694"/>
          </a:xfrm>
          <a:prstGeom prst="rect">
            <a:avLst/>
          </a:prstGeom>
          <a:solidFill>
            <a:srgbClr val="25282A"/>
          </a:solidFill>
          <a:ln/>
        </p:spPr>
      </p:sp>
      <p:sp>
        <p:nvSpPr>
          <p:cNvPr id="13" name="Text 9"/>
          <p:cNvSpPr/>
          <p:nvPr/>
        </p:nvSpPr>
        <p:spPr>
          <a:xfrm>
            <a:off x="6324563" y="3039666"/>
            <a:ext cx="2247881" cy="132159"/>
          </a:xfrm>
          <a:prstGeom prst="rect">
            <a:avLst/>
          </a:prstGeom>
          <a:noFill/>
          <a:ln/>
        </p:spPr>
        <p:txBody>
          <a:bodyPr wrap="square" lIns="0" tIns="0" rIns="0" bIns="0" rtlCol="0" anchor="t">
            <a:spAutoFit/>
          </a:bodyPr>
          <a:lstStyle/>
          <a:p>
            <a:pPr algn="l" indent="0" marL="0">
              <a:buNone/>
            </a:pPr>
            <a:r>
              <a:rPr lang="en-US" sz="750" dirty="0">
                <a:solidFill>
                  <a:srgbClr val="A0A4A8"/>
                </a:solidFill>
                <a:latin typeface="JetBrains Mono" pitchFamily="34" charset="0"/>
                <a:ea typeface="JetBrains Mono" pitchFamily="34" charset="-122"/>
                <a:cs typeface="JetBrains Mono" pitchFamily="34" charset="-120"/>
              </a:rPr>
              <a:t>STORE CERTIFICATION</a:t>
            </a:r>
            <a:endParaRPr lang="en-US" sz="750" dirty="0"/>
          </a:p>
        </p:txBody>
      </p:sp>
      <p:sp>
        <p:nvSpPr>
          <p:cNvPr id="14" name="Text 10"/>
          <p:cNvSpPr/>
          <p:nvPr/>
        </p:nvSpPr>
        <p:spPr>
          <a:xfrm>
            <a:off x="6324563" y="3286125"/>
            <a:ext cx="2247881" cy="275034"/>
          </a:xfrm>
          <a:prstGeom prst="rect">
            <a:avLst/>
          </a:prstGeom>
          <a:noFill/>
          <a:ln/>
        </p:spPr>
        <p:txBody>
          <a:bodyPr wrap="square" lIns="0" tIns="0" rIns="0" bIns="0" rtlCol="0" anchor="t">
            <a:spAutoFit/>
          </a:bodyPr>
          <a:lstStyle/>
          <a:p>
            <a:pPr algn="l" indent="0" marL="0">
              <a:buNone/>
            </a:pPr>
            <a:r>
              <a:rPr lang="en-US" sz="1600" b="1" dirty="0">
                <a:solidFill>
                  <a:srgbClr val="E81123"/>
                </a:solidFill>
                <a:latin typeface="Inter SemiBold" pitchFamily="34" charset="0"/>
                <a:ea typeface="Inter SemiBold" pitchFamily="34" charset="-122"/>
                <a:cs typeface="Inter SemiBold" pitchFamily="34" charset="-120"/>
              </a:rPr>
              <a:t>BLOCKED</a:t>
            </a:r>
            <a:endParaRPr lang="en-US" sz="1600" dirty="0"/>
          </a:p>
        </p:txBody>
      </p:sp>
      <p:sp>
        <p:nvSpPr>
          <p:cNvPr id="15" name="Text 11"/>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16" name="Text 12"/>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01</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The Truthful Product Story</a:t>
            </a:r>
            <a:endParaRPr lang="en-US" sz="1600" dirty="0"/>
          </a:p>
        </p:txBody>
      </p:sp>
      <p:sp>
        <p:nvSpPr>
          <p:cNvPr id="5" name="Shape 1"/>
          <p:cNvSpPr/>
          <p:nvPr/>
        </p:nvSpPr>
        <p:spPr>
          <a:xfrm>
            <a:off x="342900" y="1332309"/>
            <a:ext cx="4057650" cy="3357563"/>
          </a:xfrm>
          <a:prstGeom prst="rect">
            <a:avLst/>
          </a:prstGeom>
          <a:solidFill>
            <a:srgbClr val="25282A"/>
          </a:solidFill>
          <a:ln/>
        </p:spPr>
      </p:sp>
      <p:sp>
        <p:nvSpPr>
          <p:cNvPr id="6" name="Text 2"/>
          <p:cNvSpPr/>
          <p:nvPr/>
        </p:nvSpPr>
        <p:spPr>
          <a:xfrm>
            <a:off x="628650" y="1618059"/>
            <a:ext cx="3486150" cy="153591"/>
          </a:xfrm>
          <a:prstGeom prst="rect">
            <a:avLst/>
          </a:prstGeom>
          <a:noFill/>
          <a:ln/>
        </p:spPr>
        <p:txBody>
          <a:bodyPr wrap="square" lIns="0" tIns="0" rIns="0" bIns="0" rtlCol="0" anchor="t">
            <a:spAutoFit/>
          </a:bodyPr>
          <a:lstStyle/>
          <a:p>
            <a:pPr algn="l" indent="0" marL="0">
              <a:buNone/>
            </a:pPr>
            <a:r>
              <a:rPr lang="en-US" sz="850" dirty="0">
                <a:solidFill>
                  <a:srgbClr val="107CFF"/>
                </a:solidFill>
                <a:latin typeface="JetBrains Mono" pitchFamily="34" charset="0"/>
                <a:ea typeface="JetBrains Mono" pitchFamily="34" charset="-122"/>
                <a:cs typeface="JetBrains Mono" pitchFamily="34" charset="-120"/>
              </a:rPr>
              <a:t>SUPPORTED USER VALUE</a:t>
            </a:r>
            <a:endParaRPr lang="en-US" sz="850" dirty="0"/>
          </a:p>
        </p:txBody>
      </p:sp>
      <p:sp>
        <p:nvSpPr>
          <p:cNvPr id="7" name="Shape 3"/>
          <p:cNvSpPr/>
          <p:nvPr/>
        </p:nvSpPr>
        <p:spPr>
          <a:xfrm>
            <a:off x="628650" y="2014538"/>
            <a:ext cx="57150" cy="57150"/>
          </a:xfrm>
          <a:prstGeom prst="rect">
            <a:avLst/>
          </a:prstGeom>
          <a:solidFill>
            <a:srgbClr val="3A3D40"/>
          </a:solidFill>
          <a:ln/>
        </p:spPr>
      </p:sp>
      <p:sp>
        <p:nvSpPr>
          <p:cNvPr id="8" name="Text 4"/>
          <p:cNvSpPr/>
          <p:nvPr/>
        </p:nvSpPr>
        <p:spPr>
          <a:xfrm>
            <a:off x="628650" y="1943100"/>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Review-before-change desktop setup helper.</a:t>
            </a:r>
            <a:endParaRPr lang="en-US" sz="950" dirty="0"/>
          </a:p>
        </p:txBody>
      </p:sp>
      <p:sp>
        <p:nvSpPr>
          <p:cNvPr id="9" name="Shape 5"/>
          <p:cNvSpPr/>
          <p:nvPr/>
        </p:nvSpPr>
        <p:spPr>
          <a:xfrm>
            <a:off x="628650" y="2391705"/>
            <a:ext cx="57150" cy="57150"/>
          </a:xfrm>
          <a:prstGeom prst="rect">
            <a:avLst/>
          </a:prstGeom>
          <a:solidFill>
            <a:srgbClr val="3A3D40"/>
          </a:solidFill>
          <a:ln/>
        </p:spPr>
      </p:sp>
      <p:sp>
        <p:nvSpPr>
          <p:cNvPr id="10" name="Text 6"/>
          <p:cNvSpPr/>
          <p:nvPr/>
        </p:nvSpPr>
        <p:spPr>
          <a:xfrm>
            <a:off x="628650" y="2320268"/>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Keeps shared developer-tool choices separate from project-level choices.</a:t>
            </a:r>
            <a:endParaRPr lang="en-US" sz="950" dirty="0"/>
          </a:p>
        </p:txBody>
      </p:sp>
      <p:sp>
        <p:nvSpPr>
          <p:cNvPr id="11" name="Shape 7"/>
          <p:cNvSpPr/>
          <p:nvPr/>
        </p:nvSpPr>
        <p:spPr>
          <a:xfrm>
            <a:off x="628650" y="2974591"/>
            <a:ext cx="57150" cy="57150"/>
          </a:xfrm>
          <a:prstGeom prst="rect">
            <a:avLst/>
          </a:prstGeom>
          <a:solidFill>
            <a:srgbClr val="3A3D40"/>
          </a:solidFill>
          <a:ln/>
        </p:spPr>
      </p:sp>
      <p:sp>
        <p:nvSpPr>
          <p:cNvPr id="12" name="Text 8"/>
          <p:cNvSpPr/>
          <p:nvPr/>
        </p:nvSpPr>
        <p:spPr>
          <a:xfrm>
            <a:off x="628650" y="2903153"/>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Surfaces curated extras and shows a visible plan before approval.</a:t>
            </a:r>
            <a:endParaRPr lang="en-US" sz="950" dirty="0"/>
          </a:p>
        </p:txBody>
      </p:sp>
      <p:sp>
        <p:nvSpPr>
          <p:cNvPr id="13" name="Shape 9"/>
          <p:cNvSpPr/>
          <p:nvPr/>
        </p:nvSpPr>
        <p:spPr>
          <a:xfrm>
            <a:off x="628650" y="3557476"/>
            <a:ext cx="57150" cy="57150"/>
          </a:xfrm>
          <a:prstGeom prst="rect">
            <a:avLst/>
          </a:prstGeom>
          <a:solidFill>
            <a:srgbClr val="3A3D40"/>
          </a:solidFill>
          <a:ln/>
        </p:spPr>
      </p:sp>
      <p:sp>
        <p:nvSpPr>
          <p:cNvPr id="14" name="Text 10"/>
          <p:cNvSpPr/>
          <p:nvPr/>
        </p:nvSpPr>
        <p:spPr>
          <a:xfrm>
            <a:off x="628650" y="3486038"/>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Backup-first cleanup for eligible local skill folders.</a:t>
            </a:r>
            <a:endParaRPr lang="en-US" sz="950" dirty="0"/>
          </a:p>
        </p:txBody>
      </p:sp>
      <p:sp>
        <p:nvSpPr>
          <p:cNvPr id="15" name="Shape 11"/>
          <p:cNvSpPr/>
          <p:nvPr/>
        </p:nvSpPr>
        <p:spPr>
          <a:xfrm>
            <a:off x="4743450" y="1332309"/>
            <a:ext cx="4057650" cy="3357563"/>
          </a:xfrm>
          <a:prstGeom prst="rect">
            <a:avLst/>
          </a:prstGeom>
          <a:solidFill>
            <a:srgbClr val="25282A"/>
          </a:solidFill>
          <a:ln/>
        </p:spPr>
      </p:sp>
      <p:sp>
        <p:nvSpPr>
          <p:cNvPr id="16" name="Text 12"/>
          <p:cNvSpPr/>
          <p:nvPr/>
        </p:nvSpPr>
        <p:spPr>
          <a:xfrm>
            <a:off x="5029200" y="1618059"/>
            <a:ext cx="3486150" cy="153591"/>
          </a:xfrm>
          <a:prstGeom prst="rect">
            <a:avLst/>
          </a:prstGeom>
          <a:noFill/>
          <a:ln/>
        </p:spPr>
        <p:txBody>
          <a:bodyPr wrap="square" lIns="0" tIns="0" rIns="0" bIns="0" rtlCol="0" anchor="t">
            <a:spAutoFit/>
          </a:bodyPr>
          <a:lstStyle/>
          <a:p>
            <a:pPr algn="l" indent="0" marL="0">
              <a:buNone/>
            </a:pPr>
            <a:r>
              <a:rPr lang="en-US" sz="850" dirty="0">
                <a:solidFill>
                  <a:srgbClr val="FFB900"/>
                </a:solidFill>
                <a:latin typeface="JetBrains Mono" pitchFamily="34" charset="0"/>
                <a:ea typeface="JetBrains Mono" pitchFamily="34" charset="-122"/>
                <a:cs typeface="JetBrains Mono" pitchFamily="34" charset="-120"/>
              </a:rPr>
              <a:t>EXPLICIT BOUNDARIES</a:t>
            </a:r>
            <a:endParaRPr lang="en-US" sz="850" dirty="0"/>
          </a:p>
        </p:txBody>
      </p:sp>
      <p:sp>
        <p:nvSpPr>
          <p:cNvPr id="17" name="Shape 13"/>
          <p:cNvSpPr/>
          <p:nvPr/>
        </p:nvSpPr>
        <p:spPr>
          <a:xfrm>
            <a:off x="5029200" y="2014538"/>
            <a:ext cx="57150" cy="57150"/>
          </a:xfrm>
          <a:prstGeom prst="rect">
            <a:avLst/>
          </a:prstGeom>
          <a:solidFill>
            <a:srgbClr val="3A3D40"/>
          </a:solidFill>
          <a:ln/>
        </p:spPr>
      </p:sp>
      <p:sp>
        <p:nvSpPr>
          <p:cNvPr id="18" name="Text 14"/>
          <p:cNvSpPr/>
          <p:nvPr/>
        </p:nvSpPr>
        <p:spPr>
          <a:xfrm>
            <a:off x="5029200" y="1943100"/>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Not a guarantee about third-party tools, commands, or services.</a:t>
            </a:r>
            <a:endParaRPr lang="en-US" sz="950" dirty="0"/>
          </a:p>
        </p:txBody>
      </p:sp>
      <p:sp>
        <p:nvSpPr>
          <p:cNvPr id="19" name="Shape 15"/>
          <p:cNvSpPr/>
          <p:nvPr/>
        </p:nvSpPr>
        <p:spPr>
          <a:xfrm>
            <a:off x="5029200" y="2597423"/>
            <a:ext cx="57150" cy="57150"/>
          </a:xfrm>
          <a:prstGeom prst="rect">
            <a:avLst/>
          </a:prstGeom>
          <a:solidFill>
            <a:srgbClr val="3A3D40"/>
          </a:solidFill>
          <a:ln/>
        </p:spPr>
      </p:sp>
      <p:sp>
        <p:nvSpPr>
          <p:cNvPr id="20" name="Text 16"/>
          <p:cNvSpPr/>
          <p:nvPr/>
        </p:nvSpPr>
        <p:spPr>
          <a:xfrm>
            <a:off x="5029200" y="2525985"/>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Does not silently delete credentials or unreviewed folders.</a:t>
            </a:r>
            <a:endParaRPr lang="en-US" sz="950" dirty="0"/>
          </a:p>
        </p:txBody>
      </p:sp>
      <p:sp>
        <p:nvSpPr>
          <p:cNvPr id="21" name="Shape 17"/>
          <p:cNvSpPr/>
          <p:nvPr/>
        </p:nvSpPr>
        <p:spPr>
          <a:xfrm>
            <a:off x="5029200" y="3180308"/>
            <a:ext cx="57150" cy="57150"/>
          </a:xfrm>
          <a:prstGeom prst="rect">
            <a:avLst/>
          </a:prstGeom>
          <a:solidFill>
            <a:srgbClr val="3A3D40"/>
          </a:solidFill>
          <a:ln/>
        </p:spPr>
      </p:sp>
      <p:sp>
        <p:nvSpPr>
          <p:cNvPr id="22" name="Text 18"/>
          <p:cNvSpPr/>
          <p:nvPr/>
        </p:nvSpPr>
        <p:spPr>
          <a:xfrm>
            <a:off x="5029200" y="3108871"/>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Discovery is read-only by default (pending final code verification).</a:t>
            </a:r>
            <a:endParaRPr lang="en-US" sz="950" dirty="0"/>
          </a:p>
        </p:txBody>
      </p:sp>
      <p:sp>
        <p:nvSpPr>
          <p:cNvPr id="23" name="Shape 19"/>
          <p:cNvSpPr/>
          <p:nvPr/>
        </p:nvSpPr>
        <p:spPr>
          <a:xfrm>
            <a:off x="5029200" y="3763194"/>
            <a:ext cx="57150" cy="57150"/>
          </a:xfrm>
          <a:prstGeom prst="rect">
            <a:avLst/>
          </a:prstGeom>
          <a:solidFill>
            <a:srgbClr val="3A3D40"/>
          </a:solidFill>
          <a:ln/>
        </p:spPr>
      </p:sp>
      <p:sp>
        <p:nvSpPr>
          <p:cNvPr id="24" name="Text 20"/>
          <p:cNvSpPr/>
          <p:nvPr/>
        </p:nvSpPr>
        <p:spPr>
          <a:xfrm>
            <a:off x="5029200" y="3691756"/>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No affiliation or endorsement by Anthropic, Claude, or GitHub.</a:t>
            </a:r>
            <a:endParaRPr lang="en-US" sz="950" dirty="0"/>
          </a:p>
        </p:txBody>
      </p:sp>
      <p:sp>
        <p:nvSpPr>
          <p:cNvPr id="25" name="Text 21"/>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26" name="Text 22"/>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00025" y="342900"/>
            <a:ext cx="8743950" cy="188584"/>
          </a:xfrm>
          <a:prstGeom prst="rect">
            <a:avLst/>
          </a:prstGeom>
          <a:noFill/>
          <a:ln/>
        </p:spPr>
        <p:txBody>
          <a:bodyPr wrap="none" lIns="0" tIns="0" rIns="0" bIns="0" rtlCol="0" anchor="t">
            <a:spAutoFit/>
          </a:bodyPr>
          <a:lstStyle/>
          <a:p>
            <a:pPr algn="l" indent="0" marL="0">
              <a:lnSpc>
                <a:spcPct val="88000"/>
              </a:lnSpc>
              <a:buNone/>
            </a:pPr>
            <a:r>
              <a:rPr lang="en-US" sz="1200" b="1" dirty="0">
                <a:solidFill>
                  <a:srgbClr val="FFFFFF"/>
                </a:solidFill>
                <a:latin typeface="Inter Bold" pitchFamily="34" charset="0"/>
                <a:ea typeface="Inter Bold" pitchFamily="34" charset="-122"/>
                <a:cs typeface="Inter Bold" pitchFamily="34" charset="-120"/>
              </a:rPr>
              <a:t>Listing Copy: Conditional Draft Approval</a:t>
            </a:r>
            <a:endParaRPr lang="en-US" sz="1200" dirty="0"/>
          </a:p>
        </p:txBody>
      </p:sp>
      <p:sp>
        <p:nvSpPr>
          <p:cNvPr id="5" name="Text 1"/>
          <p:cNvSpPr/>
          <p:nvPr/>
        </p:nvSpPr>
        <p:spPr>
          <a:xfrm>
            <a:off x="200025" y="645784"/>
            <a:ext cx="2914650" cy="110728"/>
          </a:xfrm>
          <a:prstGeom prst="rect">
            <a:avLst/>
          </a:prstGeom>
          <a:noFill/>
          <a:ln/>
        </p:spPr>
        <p:txBody>
          <a:bodyPr wrap="squar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CLAIM CATEGORY</a:t>
            </a:r>
            <a:endParaRPr lang="en-US" sz="600" dirty="0"/>
          </a:p>
        </p:txBody>
      </p:sp>
      <p:sp>
        <p:nvSpPr>
          <p:cNvPr id="6" name="Text 2"/>
          <p:cNvSpPr/>
          <p:nvPr/>
        </p:nvSpPr>
        <p:spPr>
          <a:xfrm>
            <a:off x="3114675" y="645784"/>
            <a:ext cx="2914650" cy="110728"/>
          </a:xfrm>
          <a:prstGeom prst="rect">
            <a:avLst/>
          </a:prstGeom>
          <a:noFill/>
          <a:ln/>
        </p:spPr>
        <p:txBody>
          <a:bodyPr wrap="squar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STATUS</a:t>
            </a:r>
            <a:endParaRPr lang="en-US" sz="600" dirty="0"/>
          </a:p>
        </p:txBody>
      </p:sp>
      <p:sp>
        <p:nvSpPr>
          <p:cNvPr id="7" name="Text 3"/>
          <p:cNvSpPr/>
          <p:nvPr/>
        </p:nvSpPr>
        <p:spPr>
          <a:xfrm>
            <a:off x="6029325" y="645784"/>
            <a:ext cx="2914650" cy="110728"/>
          </a:xfrm>
          <a:prstGeom prst="rect">
            <a:avLst/>
          </a:prstGeom>
          <a:noFill/>
          <a:ln/>
        </p:spPr>
        <p:txBody>
          <a:bodyPr wrap="squar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CONDITION / RATIONALE</a:t>
            </a:r>
            <a:endParaRPr lang="en-US" sz="600" dirty="0"/>
          </a:p>
        </p:txBody>
      </p:sp>
      <p:sp>
        <p:nvSpPr>
          <p:cNvPr id="8" name="Text 4"/>
          <p:cNvSpPr/>
          <p:nvPr/>
        </p:nvSpPr>
        <p:spPr>
          <a:xfrm>
            <a:off x="200025" y="913674"/>
            <a:ext cx="2914650" cy="150019"/>
          </a:xfrm>
          <a:prstGeom prst="rect">
            <a:avLst/>
          </a:prstGeom>
          <a:noFill/>
          <a:ln/>
        </p:spPr>
        <p:txBody>
          <a:bodyPr wrap="none" lIns="0" tIns="0" rIns="68072" bIns="0" rtlCol="0" anchor="t">
            <a:spAutoFit/>
          </a:bodyPr>
          <a:lstStyle/>
          <a:p>
            <a:pPr algn="l" indent="0" marL="0">
              <a:lnSpc>
                <a:spcPct val="112000"/>
              </a:lnSpc>
              <a:buNone/>
            </a:pPr>
            <a:r>
              <a:rPr lang="en-US" sz="800" dirty="0">
                <a:solidFill>
                  <a:srgbClr val="E6E7E8"/>
                </a:solidFill>
                <a:latin typeface="Inter" pitchFamily="34" charset="0"/>
                <a:ea typeface="Inter" pitchFamily="34" charset="-122"/>
                <a:cs typeface="Inter" pitchFamily="34" charset="-120"/>
              </a:rPr>
              <a:t>Setup steps &amp; curated choices</a:t>
            </a:r>
            <a:endParaRPr lang="en-US" sz="800" dirty="0"/>
          </a:p>
        </p:txBody>
      </p:sp>
      <p:sp>
        <p:nvSpPr>
          <p:cNvPr id="9" name="Text 5"/>
          <p:cNvSpPr/>
          <p:nvPr/>
        </p:nvSpPr>
        <p:spPr>
          <a:xfrm>
            <a:off x="3114675" y="923665"/>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107CFF"/>
                </a:solidFill>
                <a:latin typeface="JetBrains Mono" pitchFamily="34" charset="0"/>
                <a:ea typeface="JetBrains Mono" pitchFamily="34" charset="-122"/>
                <a:cs typeface="JetBrains Mono" pitchFamily="34" charset="-120"/>
              </a:rPr>
              <a:t>SAFELY CLAIMED</a:t>
            </a:r>
            <a:endParaRPr lang="en-US" sz="650" dirty="0"/>
          </a:p>
        </p:txBody>
      </p:sp>
      <p:sp>
        <p:nvSpPr>
          <p:cNvPr id="10" name="Text 6"/>
          <p:cNvSpPr/>
          <p:nvPr/>
        </p:nvSpPr>
        <p:spPr>
          <a:xfrm>
            <a:off x="6029325" y="923665"/>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C9CCCE"/>
                </a:solidFill>
                <a:latin typeface="Inter" pitchFamily="34" charset="0"/>
                <a:ea typeface="Inter" pitchFamily="34" charset="-122"/>
                <a:cs typeface="Inter" pitchFamily="34" charset="-120"/>
              </a:rPr>
              <a:t>Supported by public user manual and documentation.</a:t>
            </a:r>
            <a:endParaRPr lang="en-US" sz="650" dirty="0"/>
          </a:p>
        </p:txBody>
      </p:sp>
      <p:sp>
        <p:nvSpPr>
          <p:cNvPr id="11" name="Text 7"/>
          <p:cNvSpPr/>
          <p:nvPr/>
        </p:nvSpPr>
        <p:spPr>
          <a:xfrm>
            <a:off x="200025" y="1213712"/>
            <a:ext cx="2914650" cy="150019"/>
          </a:xfrm>
          <a:prstGeom prst="rect">
            <a:avLst/>
          </a:prstGeom>
          <a:noFill/>
          <a:ln/>
        </p:spPr>
        <p:txBody>
          <a:bodyPr wrap="none" lIns="0" tIns="0" rIns="68072" bIns="0" rtlCol="0" anchor="t">
            <a:spAutoFit/>
          </a:bodyPr>
          <a:lstStyle/>
          <a:p>
            <a:pPr algn="l" indent="0" marL="0">
              <a:lnSpc>
                <a:spcPct val="112000"/>
              </a:lnSpc>
              <a:buNone/>
            </a:pPr>
            <a:r>
              <a:rPr lang="en-US" sz="800" dirty="0">
                <a:solidFill>
                  <a:srgbClr val="E6E7E8"/>
                </a:solidFill>
                <a:latin typeface="Inter" pitchFamily="34" charset="0"/>
                <a:ea typeface="Inter" pitchFamily="34" charset="-122"/>
                <a:cs typeface="Inter" pitchFamily="34" charset="-120"/>
              </a:rPr>
              <a:t>Review plan before approval</a:t>
            </a:r>
            <a:endParaRPr lang="en-US" sz="800" dirty="0"/>
          </a:p>
        </p:txBody>
      </p:sp>
      <p:sp>
        <p:nvSpPr>
          <p:cNvPr id="12" name="Text 8"/>
          <p:cNvSpPr/>
          <p:nvPr/>
        </p:nvSpPr>
        <p:spPr>
          <a:xfrm>
            <a:off x="3114675" y="1223702"/>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107CFF"/>
                </a:solidFill>
                <a:latin typeface="JetBrains Mono" pitchFamily="34" charset="0"/>
                <a:ea typeface="JetBrains Mono" pitchFamily="34" charset="-122"/>
                <a:cs typeface="JetBrains Mono" pitchFamily="34" charset="-120"/>
              </a:rPr>
              <a:t>SAFELY CLAIMED</a:t>
            </a:r>
            <a:endParaRPr lang="en-US" sz="650" dirty="0"/>
          </a:p>
        </p:txBody>
      </p:sp>
      <p:sp>
        <p:nvSpPr>
          <p:cNvPr id="13" name="Text 9"/>
          <p:cNvSpPr/>
          <p:nvPr/>
        </p:nvSpPr>
        <p:spPr>
          <a:xfrm>
            <a:off x="6029325" y="1223702"/>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C9CCCE"/>
                </a:solidFill>
                <a:latin typeface="Inter" pitchFamily="34" charset="0"/>
                <a:ea typeface="Inter" pitchFamily="34" charset="-122"/>
                <a:cs typeface="Inter" pitchFamily="34" charset="-120"/>
              </a:rPr>
              <a:t>Supported by public terms and product disclaimer.</a:t>
            </a:r>
            <a:endParaRPr lang="en-US" sz="650" dirty="0"/>
          </a:p>
        </p:txBody>
      </p:sp>
      <p:sp>
        <p:nvSpPr>
          <p:cNvPr id="14" name="Text 10"/>
          <p:cNvSpPr/>
          <p:nvPr/>
        </p:nvSpPr>
        <p:spPr>
          <a:xfrm>
            <a:off x="200025" y="1513749"/>
            <a:ext cx="2914650" cy="150019"/>
          </a:xfrm>
          <a:prstGeom prst="rect">
            <a:avLst/>
          </a:prstGeom>
          <a:noFill/>
          <a:ln/>
        </p:spPr>
        <p:txBody>
          <a:bodyPr wrap="none" lIns="0" tIns="0" rIns="68072" bIns="0" rtlCol="0" anchor="t">
            <a:spAutoFit/>
          </a:bodyPr>
          <a:lstStyle/>
          <a:p>
            <a:pPr algn="l" indent="0" marL="0">
              <a:lnSpc>
                <a:spcPct val="112000"/>
              </a:lnSpc>
              <a:buNone/>
            </a:pPr>
            <a:r>
              <a:rPr lang="en-US" sz="800" dirty="0">
                <a:solidFill>
                  <a:srgbClr val="E6E7E8"/>
                </a:solidFill>
                <a:latin typeface="Inter" pitchFamily="34" charset="0"/>
                <a:ea typeface="Inter" pitchFamily="34" charset="-122"/>
                <a:cs typeface="Inter" pitchFamily="34" charset="-120"/>
              </a:rPr>
              <a:t>Microsoft-certified / Store-ready</a:t>
            </a:r>
            <a:endParaRPr lang="en-US" sz="800" dirty="0"/>
          </a:p>
        </p:txBody>
      </p:sp>
      <p:sp>
        <p:nvSpPr>
          <p:cNvPr id="15" name="Text 11"/>
          <p:cNvSpPr/>
          <p:nvPr/>
        </p:nvSpPr>
        <p:spPr>
          <a:xfrm>
            <a:off x="3114675" y="1523740"/>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E81123"/>
                </a:solidFill>
                <a:latin typeface="JetBrains Mono" pitchFamily="34" charset="0"/>
                <a:ea typeface="JetBrains Mono" pitchFamily="34" charset="-122"/>
                <a:cs typeface="JetBrains Mono" pitchFamily="34" charset="-120"/>
              </a:rPr>
              <a:t>EXCLUDED</a:t>
            </a:r>
            <a:endParaRPr lang="en-US" sz="650" dirty="0"/>
          </a:p>
        </p:txBody>
      </p:sp>
      <p:sp>
        <p:nvSpPr>
          <p:cNvPr id="16" name="Text 12"/>
          <p:cNvSpPr/>
          <p:nvPr/>
        </p:nvSpPr>
        <p:spPr>
          <a:xfrm>
            <a:off x="6029325" y="1523740"/>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C9CCCE"/>
                </a:solidFill>
                <a:latin typeface="Inter" pitchFamily="34" charset="0"/>
                <a:ea typeface="Inter" pitchFamily="34" charset="-122"/>
                <a:cs typeface="Inter" pitchFamily="34" charset="-120"/>
              </a:rPr>
              <a:t>No evidence exists; submission is blocked.</a:t>
            </a:r>
            <a:endParaRPr lang="en-US" sz="650" dirty="0"/>
          </a:p>
        </p:txBody>
      </p:sp>
      <p:sp>
        <p:nvSpPr>
          <p:cNvPr id="17" name="Text 13"/>
          <p:cNvSpPr/>
          <p:nvPr/>
        </p:nvSpPr>
        <p:spPr>
          <a:xfrm>
            <a:off x="200025" y="1813787"/>
            <a:ext cx="2914650" cy="150019"/>
          </a:xfrm>
          <a:prstGeom prst="rect">
            <a:avLst/>
          </a:prstGeom>
          <a:noFill/>
          <a:ln/>
        </p:spPr>
        <p:txBody>
          <a:bodyPr wrap="none" lIns="0" tIns="0" rIns="68072" bIns="0" rtlCol="0" anchor="t">
            <a:spAutoFit/>
          </a:bodyPr>
          <a:lstStyle/>
          <a:p>
            <a:pPr algn="l" indent="0" marL="0">
              <a:lnSpc>
                <a:spcPct val="112000"/>
              </a:lnSpc>
              <a:buNone/>
            </a:pPr>
            <a:r>
              <a:rPr lang="en-US" sz="800" dirty="0">
                <a:solidFill>
                  <a:srgbClr val="E6E7E8"/>
                </a:solidFill>
                <a:latin typeface="Inter" pitchFamily="34" charset="0"/>
                <a:ea typeface="Inter" pitchFamily="34" charset="-122"/>
                <a:cs typeface="Inter" pitchFamily="34" charset="-120"/>
              </a:rPr>
              <a:t>Windows EXE / Silent install</a:t>
            </a:r>
            <a:endParaRPr lang="en-US" sz="800" dirty="0"/>
          </a:p>
        </p:txBody>
      </p:sp>
      <p:sp>
        <p:nvSpPr>
          <p:cNvPr id="18" name="Text 14"/>
          <p:cNvSpPr/>
          <p:nvPr/>
        </p:nvSpPr>
        <p:spPr>
          <a:xfrm>
            <a:off x="3114675" y="1823777"/>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E81123"/>
                </a:solidFill>
                <a:latin typeface="JetBrains Mono" pitchFamily="34" charset="0"/>
                <a:ea typeface="JetBrains Mono" pitchFamily="34" charset="-122"/>
                <a:cs typeface="JetBrains Mono" pitchFamily="34" charset="-120"/>
              </a:rPr>
              <a:t>EXCLUDED</a:t>
            </a:r>
            <a:endParaRPr lang="en-US" sz="650" dirty="0"/>
          </a:p>
        </p:txBody>
      </p:sp>
      <p:sp>
        <p:nvSpPr>
          <p:cNvPr id="19" name="Text 15"/>
          <p:cNvSpPr/>
          <p:nvPr/>
        </p:nvSpPr>
        <p:spPr>
          <a:xfrm>
            <a:off x="6029325" y="1823777"/>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C9CCCE"/>
                </a:solidFill>
                <a:latin typeface="Inter" pitchFamily="34" charset="0"/>
                <a:ea typeface="Inter" pitchFamily="34" charset="-122"/>
                <a:cs typeface="Inter" pitchFamily="34" charset="-120"/>
              </a:rPr>
              <a:t>Current release is ZIP; silent install contradicts review workflow.</a:t>
            </a:r>
            <a:endParaRPr lang="en-US" sz="650" dirty="0"/>
          </a:p>
        </p:txBody>
      </p:sp>
      <p:sp>
        <p:nvSpPr>
          <p:cNvPr id="20" name="Text 16"/>
          <p:cNvSpPr/>
          <p:nvPr/>
        </p:nvSpPr>
        <p:spPr>
          <a:xfrm>
            <a:off x="200025" y="2113824"/>
            <a:ext cx="2914650" cy="150019"/>
          </a:xfrm>
          <a:prstGeom prst="rect">
            <a:avLst/>
          </a:prstGeom>
          <a:noFill/>
          <a:ln/>
        </p:spPr>
        <p:txBody>
          <a:bodyPr wrap="none" lIns="0" tIns="0" rIns="68072" bIns="0" rtlCol="0" anchor="t">
            <a:spAutoFit/>
          </a:bodyPr>
          <a:lstStyle/>
          <a:p>
            <a:pPr algn="l" indent="0" marL="0">
              <a:lnSpc>
                <a:spcPct val="112000"/>
              </a:lnSpc>
              <a:buNone/>
            </a:pPr>
            <a:r>
              <a:rPr lang="en-US" sz="800" dirty="0">
                <a:solidFill>
                  <a:srgbClr val="E6E7E8"/>
                </a:solidFill>
                <a:latin typeface="Inter" pitchFamily="34" charset="0"/>
                <a:ea typeface="Inter" pitchFamily="34" charset="-122"/>
                <a:cs typeface="Inter" pitchFamily="34" charset="-120"/>
              </a:rPr>
              <a:t>Discovery is read-only by default</a:t>
            </a:r>
            <a:endParaRPr lang="en-US" sz="800" dirty="0"/>
          </a:p>
        </p:txBody>
      </p:sp>
      <p:sp>
        <p:nvSpPr>
          <p:cNvPr id="21" name="Text 17"/>
          <p:cNvSpPr/>
          <p:nvPr/>
        </p:nvSpPr>
        <p:spPr>
          <a:xfrm>
            <a:off x="3114675" y="2123815"/>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FFB900"/>
                </a:solidFill>
                <a:latin typeface="JetBrains Mono" pitchFamily="34" charset="0"/>
                <a:ea typeface="JetBrains Mono" pitchFamily="34" charset="-122"/>
                <a:cs typeface="JetBrains Mono" pitchFamily="34" charset="-120"/>
              </a:rPr>
              <a:t>CONDITIONAL</a:t>
            </a:r>
            <a:endParaRPr lang="en-US" sz="650" dirty="0"/>
          </a:p>
        </p:txBody>
      </p:sp>
      <p:sp>
        <p:nvSpPr>
          <p:cNvPr id="22" name="Text 18"/>
          <p:cNvSpPr/>
          <p:nvPr/>
        </p:nvSpPr>
        <p:spPr>
          <a:xfrm>
            <a:off x="6029325" y="2123815"/>
            <a:ext cx="2914650" cy="129983"/>
          </a:xfrm>
          <a:prstGeom prst="rect">
            <a:avLst/>
          </a:prstGeom>
          <a:noFill/>
          <a:ln/>
        </p:spPr>
        <p:txBody>
          <a:bodyPr wrap="none" lIns="0" tIns="0" rIns="0" bIns="0" rtlCol="0" anchor="t">
            <a:spAutoFit/>
          </a:bodyPr>
          <a:lstStyle/>
          <a:p>
            <a:pPr algn="l" indent="0" marL="0">
              <a:lnSpc>
                <a:spcPct val="112000"/>
              </a:lnSpc>
              <a:buNone/>
            </a:pPr>
            <a:r>
              <a:rPr lang="en-US" sz="650" dirty="0">
                <a:solidFill>
                  <a:srgbClr val="C9CCCE"/>
                </a:solidFill>
                <a:latin typeface="Inter" pitchFamily="34" charset="0"/>
                <a:ea typeface="Inter" pitchFamily="34" charset="-122"/>
                <a:cs typeface="Inter" pitchFamily="34" charset="-120"/>
              </a:rPr>
              <a:t>Requires revalidation against the final Electron build.</a:t>
            </a:r>
            <a:endParaRPr lang="en-US" sz="650" dirty="0"/>
          </a:p>
        </p:txBody>
      </p:sp>
      <p:sp>
        <p:nvSpPr>
          <p:cNvPr id="23" name="Shape 19"/>
          <p:cNvSpPr/>
          <p:nvPr/>
        </p:nvSpPr>
        <p:spPr>
          <a:xfrm>
            <a:off x="200025" y="4747022"/>
            <a:ext cx="8743950" cy="196453"/>
          </a:xfrm>
          <a:prstGeom prst="rect">
            <a:avLst/>
          </a:prstGeom>
          <a:solidFill>
            <a:srgbClr val="000000">
              <a:alpha val="0"/>
            </a:srgbClr>
          </a:solidFill>
          <a:ln/>
        </p:spPr>
      </p:sp>
      <p:sp>
        <p:nvSpPr>
          <p:cNvPr id="24" name="Shape 20"/>
          <p:cNvSpPr/>
          <p:nvPr/>
        </p:nvSpPr>
        <p:spPr>
          <a:xfrm>
            <a:off x="200025" y="4747022"/>
            <a:ext cx="8743950" cy="7144"/>
          </a:xfrm>
          <a:prstGeom prst="rect">
            <a:avLst/>
          </a:prstGeom>
          <a:solidFill>
            <a:srgbClr val="E7E8E8"/>
          </a:solidFill>
          <a:ln/>
        </p:spPr>
      </p:sp>
      <p:sp>
        <p:nvSpPr>
          <p:cNvPr id="25" name="Text 21"/>
          <p:cNvSpPr/>
          <p:nvPr/>
        </p:nvSpPr>
        <p:spPr>
          <a:xfrm>
            <a:off x="200025" y="4839891"/>
            <a:ext cx="603647" cy="103584"/>
          </a:xfrm>
          <a:prstGeom prst="rect">
            <a:avLst/>
          </a:prstGeom>
          <a:noFill/>
          <a:ln/>
        </p:spPr>
        <p:txBody>
          <a:bodyPr wrap="none" lIns="0" tIns="0" rIns="0" bIns="0" rtlCol="0" anchor="t">
            <a:spAutoFit/>
          </a:bodyPr>
          <a:lstStyle/>
          <a:p>
            <a:pPr algn="l" indent="0" marL="0">
              <a:buNone/>
            </a:pPr>
            <a:r>
              <a:rPr lang="en-US" sz="550" dirty="0">
                <a:solidFill>
                  <a:srgbClr val="A0A4A8"/>
                </a:solidFill>
                <a:latin typeface="JetBrains Mono" pitchFamily="34" charset="0"/>
                <a:ea typeface="JetBrains Mono" pitchFamily="34" charset="-122"/>
                <a:cs typeface="JetBrains Mono" pitchFamily="34" charset="-120"/>
              </a:rPr>
              <a:t>CCTI INTERNAL</a:t>
            </a:r>
            <a:endParaRPr lang="en-US" sz="550" dirty="0"/>
          </a:p>
        </p:txBody>
      </p:sp>
      <p:sp>
        <p:nvSpPr>
          <p:cNvPr id="26" name="Text 22"/>
          <p:cNvSpPr/>
          <p:nvPr/>
        </p:nvSpPr>
        <p:spPr>
          <a:xfrm>
            <a:off x="8851106" y="4839891"/>
            <a:ext cx="92869" cy="103584"/>
          </a:xfrm>
          <a:prstGeom prst="rect">
            <a:avLst/>
          </a:prstGeom>
          <a:noFill/>
          <a:ln/>
        </p:spPr>
        <p:txBody>
          <a:bodyPr wrap="none" lIns="0" tIns="0" rIns="0" bIns="0" rtlCol="0" anchor="t">
            <a:spAutoFit/>
          </a:bodyPr>
          <a:lstStyle/>
          <a:p>
            <a:pPr algn="l" indent="0" marL="0">
              <a:buNone/>
            </a:pPr>
            <a:r>
              <a:rPr lang="en-US" sz="550" dirty="0">
                <a:solidFill>
                  <a:srgbClr val="A0A4A8"/>
                </a:solidFill>
                <a:latin typeface="JetBrains Mono" pitchFamily="34" charset="0"/>
                <a:ea typeface="JetBrains Mono" pitchFamily="34" charset="-122"/>
                <a:cs typeface="JetBrains Mono" pitchFamily="34" charset="-120"/>
              </a:rPr>
              <a:t>03</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28600" y="342900"/>
            <a:ext cx="8686800"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FFFFFF"/>
                </a:solidFill>
                <a:latin typeface="Inter Bold" pitchFamily="34" charset="0"/>
                <a:ea typeface="Inter Bold" pitchFamily="34" charset="-122"/>
                <a:cs typeface="Inter Bold" pitchFamily="34" charset="-120"/>
              </a:rPr>
              <a:t>Keywords: All Limits Passed</a:t>
            </a:r>
            <a:endParaRPr lang="en-US" sz="1400" dirty="0"/>
          </a:p>
        </p:txBody>
      </p:sp>
      <p:sp>
        <p:nvSpPr>
          <p:cNvPr id="5" name="Shape 1"/>
          <p:cNvSpPr/>
          <p:nvPr/>
        </p:nvSpPr>
        <p:spPr>
          <a:xfrm>
            <a:off x="228600" y="671513"/>
            <a:ext cx="4257675" cy="389334"/>
          </a:xfrm>
          <a:prstGeom prst="rect">
            <a:avLst/>
          </a:prstGeom>
          <a:solidFill>
            <a:srgbClr val="25282A"/>
          </a:solidFill>
          <a:ln/>
        </p:spPr>
      </p:sp>
      <p:sp>
        <p:nvSpPr>
          <p:cNvPr id="6" name="Text 2"/>
          <p:cNvSpPr/>
          <p:nvPr/>
        </p:nvSpPr>
        <p:spPr>
          <a:xfrm>
            <a:off x="342900" y="810816"/>
            <a:ext cx="1100138"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TOTAL KEYWORDS (MAX 7)</a:t>
            </a:r>
            <a:endParaRPr lang="en-US" sz="600" dirty="0"/>
          </a:p>
        </p:txBody>
      </p:sp>
      <p:sp>
        <p:nvSpPr>
          <p:cNvPr id="7" name="Text 3"/>
          <p:cNvSpPr/>
          <p:nvPr/>
        </p:nvSpPr>
        <p:spPr>
          <a:xfrm>
            <a:off x="4286250" y="771525"/>
            <a:ext cx="85725" cy="189309"/>
          </a:xfrm>
          <a:prstGeom prst="rect">
            <a:avLst/>
          </a:prstGeom>
          <a:noFill/>
          <a:ln/>
        </p:spPr>
        <p:txBody>
          <a:bodyPr wrap="none" lIns="0" tIns="0" rIns="0" bIns="0" rtlCol="0" anchor="t">
            <a:spAutoFit/>
          </a:bodyPr>
          <a:lstStyle/>
          <a:p>
            <a:pPr algn="l" indent="0" marL="0">
              <a:buNone/>
            </a:pPr>
            <a:r>
              <a:rPr lang="en-US" sz="1050" dirty="0">
                <a:solidFill>
                  <a:srgbClr val="107CFF"/>
                </a:solidFill>
                <a:latin typeface="JetBrains Mono" pitchFamily="34" charset="0"/>
                <a:ea typeface="JetBrains Mono" pitchFamily="34" charset="-122"/>
                <a:cs typeface="JetBrains Mono" pitchFamily="34" charset="-120"/>
              </a:rPr>
              <a:t>7</a:t>
            </a:r>
            <a:endParaRPr lang="en-US" sz="1050" dirty="0"/>
          </a:p>
        </p:txBody>
      </p:sp>
      <p:sp>
        <p:nvSpPr>
          <p:cNvPr id="8" name="Shape 4"/>
          <p:cNvSpPr/>
          <p:nvPr/>
        </p:nvSpPr>
        <p:spPr>
          <a:xfrm>
            <a:off x="228600" y="1146572"/>
            <a:ext cx="4257675" cy="389334"/>
          </a:xfrm>
          <a:prstGeom prst="rect">
            <a:avLst/>
          </a:prstGeom>
          <a:solidFill>
            <a:srgbClr val="25282A"/>
          </a:solidFill>
          <a:ln/>
        </p:spPr>
      </p:sp>
      <p:sp>
        <p:nvSpPr>
          <p:cNvPr id="9" name="Text 5"/>
          <p:cNvSpPr/>
          <p:nvPr/>
        </p:nvSpPr>
        <p:spPr>
          <a:xfrm>
            <a:off x="342900" y="1285875"/>
            <a:ext cx="1000125"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TOTAL WORDS (MAX 21)</a:t>
            </a:r>
            <a:endParaRPr lang="en-US" sz="600" dirty="0"/>
          </a:p>
        </p:txBody>
      </p:sp>
      <p:sp>
        <p:nvSpPr>
          <p:cNvPr id="10" name="Text 6"/>
          <p:cNvSpPr/>
          <p:nvPr/>
        </p:nvSpPr>
        <p:spPr>
          <a:xfrm>
            <a:off x="4200525" y="1246584"/>
            <a:ext cx="171450" cy="189309"/>
          </a:xfrm>
          <a:prstGeom prst="rect">
            <a:avLst/>
          </a:prstGeom>
          <a:noFill/>
          <a:ln/>
        </p:spPr>
        <p:txBody>
          <a:bodyPr wrap="none" lIns="0" tIns="0" rIns="0" bIns="0" rtlCol="0" anchor="t">
            <a:spAutoFit/>
          </a:bodyPr>
          <a:lstStyle/>
          <a:p>
            <a:pPr algn="l" indent="0" marL="0">
              <a:buNone/>
            </a:pPr>
            <a:r>
              <a:rPr lang="en-US" sz="1050" dirty="0">
                <a:solidFill>
                  <a:srgbClr val="107CFF"/>
                </a:solidFill>
                <a:latin typeface="JetBrains Mono" pitchFamily="34" charset="0"/>
                <a:ea typeface="JetBrains Mono" pitchFamily="34" charset="-122"/>
                <a:cs typeface="JetBrains Mono" pitchFamily="34" charset="-120"/>
              </a:rPr>
              <a:t>16</a:t>
            </a:r>
            <a:endParaRPr lang="en-US" sz="1050" dirty="0"/>
          </a:p>
        </p:txBody>
      </p:sp>
      <p:sp>
        <p:nvSpPr>
          <p:cNvPr id="11" name="Shape 7"/>
          <p:cNvSpPr/>
          <p:nvPr/>
        </p:nvSpPr>
        <p:spPr>
          <a:xfrm>
            <a:off x="228600" y="1621631"/>
            <a:ext cx="4257675" cy="389334"/>
          </a:xfrm>
          <a:prstGeom prst="rect">
            <a:avLst/>
          </a:prstGeom>
          <a:solidFill>
            <a:srgbClr val="25282A"/>
          </a:solidFill>
          <a:ln/>
        </p:spPr>
      </p:sp>
      <p:sp>
        <p:nvSpPr>
          <p:cNvPr id="12" name="Text 8"/>
          <p:cNvSpPr/>
          <p:nvPr/>
        </p:nvSpPr>
        <p:spPr>
          <a:xfrm>
            <a:off x="342900" y="1760934"/>
            <a:ext cx="1500188" cy="110728"/>
          </a:xfrm>
          <a:prstGeom prst="rect">
            <a:avLst/>
          </a:prstGeom>
          <a:noFill/>
          <a:ln/>
        </p:spPr>
        <p:txBody>
          <a:bodyPr wrap="squar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LONGEST KEYWORD (MAX 40 CHARS)</a:t>
            </a:r>
            <a:endParaRPr lang="en-US" sz="600" dirty="0"/>
          </a:p>
        </p:txBody>
      </p:sp>
      <p:sp>
        <p:nvSpPr>
          <p:cNvPr id="13" name="Text 9"/>
          <p:cNvSpPr/>
          <p:nvPr/>
        </p:nvSpPr>
        <p:spPr>
          <a:xfrm>
            <a:off x="4200525" y="1721644"/>
            <a:ext cx="171450" cy="189309"/>
          </a:xfrm>
          <a:prstGeom prst="rect">
            <a:avLst/>
          </a:prstGeom>
          <a:noFill/>
          <a:ln/>
        </p:spPr>
        <p:txBody>
          <a:bodyPr wrap="none" lIns="0" tIns="0" rIns="0" bIns="0" rtlCol="0" anchor="t">
            <a:spAutoFit/>
          </a:bodyPr>
          <a:lstStyle/>
          <a:p>
            <a:pPr algn="l" indent="0" marL="0">
              <a:buNone/>
            </a:pPr>
            <a:r>
              <a:rPr lang="en-US" sz="1050" dirty="0">
                <a:solidFill>
                  <a:srgbClr val="107CFF"/>
                </a:solidFill>
                <a:latin typeface="JetBrains Mono" pitchFamily="34" charset="0"/>
                <a:ea typeface="JetBrains Mono" pitchFamily="34" charset="-122"/>
                <a:cs typeface="JetBrains Mono" pitchFamily="34" charset="-120"/>
              </a:rPr>
              <a:t>26</a:t>
            </a:r>
            <a:endParaRPr lang="en-US" sz="1050" dirty="0"/>
          </a:p>
        </p:txBody>
      </p:sp>
      <p:sp>
        <p:nvSpPr>
          <p:cNvPr id="14" name="Shape 10"/>
          <p:cNvSpPr/>
          <p:nvPr/>
        </p:nvSpPr>
        <p:spPr>
          <a:xfrm>
            <a:off x="228600" y="2096691"/>
            <a:ext cx="4257675" cy="389334"/>
          </a:xfrm>
          <a:prstGeom prst="rect">
            <a:avLst/>
          </a:prstGeom>
          <a:solidFill>
            <a:srgbClr val="25282A"/>
          </a:solidFill>
          <a:ln/>
        </p:spPr>
      </p:sp>
      <p:sp>
        <p:nvSpPr>
          <p:cNvPr id="15" name="Text 11"/>
          <p:cNvSpPr/>
          <p:nvPr/>
        </p:nvSpPr>
        <p:spPr>
          <a:xfrm>
            <a:off x="342900" y="2235994"/>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PRICING TERMS</a:t>
            </a:r>
            <a:endParaRPr lang="en-US" sz="600" dirty="0"/>
          </a:p>
        </p:txBody>
      </p:sp>
      <p:sp>
        <p:nvSpPr>
          <p:cNvPr id="16" name="Text 12"/>
          <p:cNvSpPr/>
          <p:nvPr/>
        </p:nvSpPr>
        <p:spPr>
          <a:xfrm>
            <a:off x="4286250" y="2196703"/>
            <a:ext cx="85725" cy="189309"/>
          </a:xfrm>
          <a:prstGeom prst="rect">
            <a:avLst/>
          </a:prstGeom>
          <a:noFill/>
          <a:ln/>
        </p:spPr>
        <p:txBody>
          <a:bodyPr wrap="none" lIns="0" tIns="0" rIns="0" bIns="0" rtlCol="0" anchor="t">
            <a:spAutoFit/>
          </a:bodyPr>
          <a:lstStyle/>
          <a:p>
            <a:pPr algn="l" indent="0" marL="0">
              <a:buNone/>
            </a:pPr>
            <a:r>
              <a:rPr lang="en-US" sz="1050" dirty="0">
                <a:solidFill>
                  <a:srgbClr val="107CFF"/>
                </a:solidFill>
                <a:latin typeface="JetBrains Mono" pitchFamily="34" charset="0"/>
                <a:ea typeface="JetBrains Mono" pitchFamily="34" charset="-122"/>
                <a:cs typeface="JetBrains Mono" pitchFamily="34" charset="-120"/>
              </a:rPr>
              <a:t>0</a:t>
            </a:r>
            <a:endParaRPr lang="en-US" sz="1050" dirty="0"/>
          </a:p>
        </p:txBody>
      </p:sp>
      <p:sp>
        <p:nvSpPr>
          <p:cNvPr id="17" name="Shape 13"/>
          <p:cNvSpPr/>
          <p:nvPr/>
        </p:nvSpPr>
        <p:spPr>
          <a:xfrm>
            <a:off x="228600" y="2571750"/>
            <a:ext cx="4257675" cy="389334"/>
          </a:xfrm>
          <a:prstGeom prst="rect">
            <a:avLst/>
          </a:prstGeom>
          <a:solidFill>
            <a:srgbClr val="25282A"/>
          </a:solidFill>
          <a:ln/>
        </p:spPr>
      </p:sp>
      <p:sp>
        <p:nvSpPr>
          <p:cNvPr id="18" name="Text 14"/>
          <p:cNvSpPr/>
          <p:nvPr/>
        </p:nvSpPr>
        <p:spPr>
          <a:xfrm>
            <a:off x="342900" y="2711053"/>
            <a:ext cx="1200150"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3RD-PARTY PRODUCT TITLES</a:t>
            </a:r>
            <a:endParaRPr lang="en-US" sz="600" dirty="0"/>
          </a:p>
        </p:txBody>
      </p:sp>
      <p:sp>
        <p:nvSpPr>
          <p:cNvPr id="19" name="Text 15"/>
          <p:cNvSpPr/>
          <p:nvPr/>
        </p:nvSpPr>
        <p:spPr>
          <a:xfrm>
            <a:off x="4286250" y="2671763"/>
            <a:ext cx="85725" cy="189309"/>
          </a:xfrm>
          <a:prstGeom prst="rect">
            <a:avLst/>
          </a:prstGeom>
          <a:noFill/>
          <a:ln/>
        </p:spPr>
        <p:txBody>
          <a:bodyPr wrap="none" lIns="0" tIns="0" rIns="0" bIns="0" rtlCol="0" anchor="t">
            <a:spAutoFit/>
          </a:bodyPr>
          <a:lstStyle/>
          <a:p>
            <a:pPr algn="l" indent="0" marL="0">
              <a:buNone/>
            </a:pPr>
            <a:r>
              <a:rPr lang="en-US" sz="1050" dirty="0">
                <a:solidFill>
                  <a:srgbClr val="107CFF"/>
                </a:solidFill>
                <a:latin typeface="JetBrains Mono" pitchFamily="34" charset="0"/>
                <a:ea typeface="JetBrains Mono" pitchFamily="34" charset="-122"/>
                <a:cs typeface="JetBrains Mono" pitchFamily="34" charset="-120"/>
              </a:rPr>
              <a:t>0</a:t>
            </a:r>
            <a:endParaRPr lang="en-US" sz="1050" dirty="0"/>
          </a:p>
        </p:txBody>
      </p:sp>
      <p:sp>
        <p:nvSpPr>
          <p:cNvPr id="20" name="Shape 16"/>
          <p:cNvSpPr/>
          <p:nvPr/>
        </p:nvSpPr>
        <p:spPr>
          <a:xfrm>
            <a:off x="4657725" y="671513"/>
            <a:ext cx="4257675" cy="2536031"/>
          </a:xfrm>
          <a:prstGeom prst="rect">
            <a:avLst/>
          </a:prstGeom>
          <a:solidFill>
            <a:srgbClr val="25282A"/>
          </a:solidFill>
          <a:ln/>
        </p:spPr>
      </p:sp>
      <p:sp>
        <p:nvSpPr>
          <p:cNvPr id="21" name="Text 17"/>
          <p:cNvSpPr/>
          <p:nvPr/>
        </p:nvSpPr>
        <p:spPr>
          <a:xfrm>
            <a:off x="4786313" y="800100"/>
            <a:ext cx="4000500" cy="110728"/>
          </a:xfrm>
          <a:prstGeom prst="rect">
            <a:avLst/>
          </a:prstGeom>
          <a:noFill/>
          <a:ln/>
        </p:spPr>
        <p:txBody>
          <a:bodyPr wrap="squar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VERIFIED KEYWORD SET</a:t>
            </a:r>
            <a:endParaRPr lang="en-US" sz="600" dirty="0"/>
          </a:p>
        </p:txBody>
      </p:sp>
      <p:sp>
        <p:nvSpPr>
          <p:cNvPr id="22" name="Text 18"/>
          <p:cNvSpPr/>
          <p:nvPr/>
        </p:nvSpPr>
        <p:spPr>
          <a:xfrm>
            <a:off x="4786313" y="1025128"/>
            <a:ext cx="4000500" cy="253603"/>
          </a:xfrm>
          <a:prstGeom prst="rect">
            <a:avLst/>
          </a:prstGeom>
          <a:noFill/>
          <a:ln/>
        </p:spPr>
        <p:txBody>
          <a:bodyPr wrap="square" lIns="0" tIns="68072" rIns="0" bIns="68072"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developer tools</a:t>
            </a:r>
            <a:endParaRPr lang="en-US" sz="750" dirty="0"/>
          </a:p>
        </p:txBody>
      </p:sp>
      <p:sp>
        <p:nvSpPr>
          <p:cNvPr id="23" name="Text 19"/>
          <p:cNvSpPr/>
          <p:nvPr/>
        </p:nvSpPr>
        <p:spPr>
          <a:xfrm>
            <a:off x="4786313" y="1335881"/>
            <a:ext cx="4000500" cy="253603"/>
          </a:xfrm>
          <a:prstGeom prst="rect">
            <a:avLst/>
          </a:prstGeom>
          <a:noFill/>
          <a:ln/>
        </p:spPr>
        <p:txBody>
          <a:bodyPr wrap="square" lIns="0" tIns="68072" rIns="0" bIns="68072"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local development workflow</a:t>
            </a:r>
            <a:endParaRPr lang="en-US" sz="750" dirty="0"/>
          </a:p>
        </p:txBody>
      </p:sp>
      <p:sp>
        <p:nvSpPr>
          <p:cNvPr id="24" name="Text 20"/>
          <p:cNvSpPr/>
          <p:nvPr/>
        </p:nvSpPr>
        <p:spPr>
          <a:xfrm>
            <a:off x="4786313" y="1646634"/>
            <a:ext cx="4000500" cy="253603"/>
          </a:xfrm>
          <a:prstGeom prst="rect">
            <a:avLst/>
          </a:prstGeom>
          <a:noFill/>
          <a:ln/>
        </p:spPr>
        <p:txBody>
          <a:bodyPr wrap="square" lIns="0" tIns="68072" rIns="0" bIns="68072"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project setup helper</a:t>
            </a:r>
            <a:endParaRPr lang="en-US" sz="750" dirty="0"/>
          </a:p>
        </p:txBody>
      </p:sp>
      <p:sp>
        <p:nvSpPr>
          <p:cNvPr id="25" name="Text 21"/>
          <p:cNvSpPr/>
          <p:nvPr/>
        </p:nvSpPr>
        <p:spPr>
          <a:xfrm>
            <a:off x="4786313" y="1957388"/>
            <a:ext cx="4000500" cy="253603"/>
          </a:xfrm>
          <a:prstGeom prst="rect">
            <a:avLst/>
          </a:prstGeom>
          <a:noFill/>
          <a:ln/>
        </p:spPr>
        <p:txBody>
          <a:bodyPr wrap="square" lIns="0" tIns="68072" rIns="0" bIns="68072"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developer utility</a:t>
            </a:r>
            <a:endParaRPr lang="en-US" sz="750" dirty="0"/>
          </a:p>
        </p:txBody>
      </p:sp>
      <p:sp>
        <p:nvSpPr>
          <p:cNvPr id="26" name="Text 22"/>
          <p:cNvSpPr/>
          <p:nvPr/>
        </p:nvSpPr>
        <p:spPr>
          <a:xfrm>
            <a:off x="4786313" y="2268141"/>
            <a:ext cx="4000500" cy="253603"/>
          </a:xfrm>
          <a:prstGeom prst="rect">
            <a:avLst/>
          </a:prstGeom>
          <a:noFill/>
          <a:ln/>
        </p:spPr>
        <p:txBody>
          <a:bodyPr wrap="square" lIns="0" tIns="68072" rIns="0" bIns="68072"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tool catalog</a:t>
            </a:r>
            <a:endParaRPr lang="en-US" sz="750" dirty="0"/>
          </a:p>
        </p:txBody>
      </p:sp>
      <p:sp>
        <p:nvSpPr>
          <p:cNvPr id="27" name="Text 23"/>
          <p:cNvSpPr/>
          <p:nvPr/>
        </p:nvSpPr>
        <p:spPr>
          <a:xfrm>
            <a:off x="4786313" y="2578894"/>
            <a:ext cx="4000500" cy="253603"/>
          </a:xfrm>
          <a:prstGeom prst="rect">
            <a:avLst/>
          </a:prstGeom>
          <a:noFill/>
          <a:ln/>
        </p:spPr>
        <p:txBody>
          <a:bodyPr wrap="square" lIns="0" tIns="68072" rIns="0" bIns="68072"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change preview</a:t>
            </a:r>
            <a:endParaRPr lang="en-US" sz="750" dirty="0"/>
          </a:p>
        </p:txBody>
      </p:sp>
      <p:sp>
        <p:nvSpPr>
          <p:cNvPr id="28" name="Text 24"/>
          <p:cNvSpPr/>
          <p:nvPr/>
        </p:nvSpPr>
        <p:spPr>
          <a:xfrm>
            <a:off x="4786313" y="2889647"/>
            <a:ext cx="4000500" cy="189309"/>
          </a:xfrm>
          <a:prstGeom prst="rect">
            <a:avLst/>
          </a:prstGeom>
          <a:noFill/>
          <a:ln/>
        </p:spPr>
        <p:txBody>
          <a:bodyPr wrap="square" lIns="0" tIns="68072" rIns="0" bIns="0" rtlCol="0" anchor="t">
            <a:spAutoFit/>
          </a:bodyPr>
          <a:lstStyle/>
          <a:p>
            <a:pPr algn="l" indent="0" marL="0">
              <a:buNone/>
            </a:pPr>
            <a:r>
              <a:rPr lang="en-US" sz="750" dirty="0">
                <a:solidFill>
                  <a:srgbClr val="FFFFFF"/>
                </a:solidFill>
                <a:latin typeface="JetBrains Mono" pitchFamily="34" charset="0"/>
                <a:ea typeface="JetBrains Mono" pitchFamily="34" charset="-122"/>
                <a:cs typeface="JetBrains Mono" pitchFamily="34" charset="-120"/>
              </a:rPr>
              <a:t>setup review</a:t>
            </a:r>
            <a:endParaRPr lang="en-US" sz="750" dirty="0"/>
          </a:p>
        </p:txBody>
      </p:sp>
      <p:sp>
        <p:nvSpPr>
          <p:cNvPr id="29" name="Text 25"/>
          <p:cNvSpPr/>
          <p:nvPr/>
        </p:nvSpPr>
        <p:spPr>
          <a:xfrm>
            <a:off x="228600" y="48041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30" name="Text 26"/>
          <p:cNvSpPr/>
          <p:nvPr/>
        </p:nvSpPr>
        <p:spPr>
          <a:xfrm>
            <a:off x="8815388" y="48041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Screenshots Must Be Evidence</a:t>
            </a:r>
            <a:endParaRPr lang="en-US" sz="1600" dirty="0"/>
          </a:p>
        </p:txBody>
      </p:sp>
      <p:sp>
        <p:nvSpPr>
          <p:cNvPr id="5" name="Shape 1"/>
          <p:cNvSpPr/>
          <p:nvPr/>
        </p:nvSpPr>
        <p:spPr>
          <a:xfrm>
            <a:off x="342900" y="1332309"/>
            <a:ext cx="4057650" cy="3357563"/>
          </a:xfrm>
          <a:prstGeom prst="rect">
            <a:avLst/>
          </a:prstGeom>
          <a:solidFill>
            <a:srgbClr val="25282A"/>
          </a:solidFill>
          <a:ln/>
        </p:spPr>
      </p:sp>
      <p:sp>
        <p:nvSpPr>
          <p:cNvPr id="6" name="Text 2"/>
          <p:cNvSpPr/>
          <p:nvPr/>
        </p:nvSpPr>
        <p:spPr>
          <a:xfrm>
            <a:off x="571500" y="1560909"/>
            <a:ext cx="3600450" cy="132159"/>
          </a:xfrm>
          <a:prstGeom prst="rect">
            <a:avLst/>
          </a:prstGeom>
          <a:noFill/>
          <a:ln/>
        </p:spPr>
        <p:txBody>
          <a:bodyPr wrap="square" lIns="0" tIns="0" rIns="0" bIns="0" rtlCol="0" anchor="t">
            <a:spAutoFit/>
          </a:bodyPr>
          <a:lstStyle/>
          <a:p>
            <a:pPr algn="l" indent="0" marL="0">
              <a:buNone/>
            </a:pPr>
            <a:r>
              <a:rPr lang="en-US" sz="750" dirty="0">
                <a:solidFill>
                  <a:srgbClr val="107CFF"/>
                </a:solidFill>
                <a:latin typeface="JetBrains Mono" pitchFamily="34" charset="0"/>
                <a:ea typeface="JetBrains Mono" pitchFamily="34" charset="-122"/>
                <a:cs typeface="JetBrains Mono" pitchFamily="34" charset="-120"/>
              </a:rPr>
              <a:t>REQUIRED CAPTURE ORIGIN</a:t>
            </a:r>
            <a:endParaRPr lang="en-US" sz="750" dirty="0"/>
          </a:p>
        </p:txBody>
      </p:sp>
      <p:sp>
        <p:nvSpPr>
          <p:cNvPr id="7" name="Shape 3"/>
          <p:cNvSpPr/>
          <p:nvPr/>
        </p:nvSpPr>
        <p:spPr>
          <a:xfrm>
            <a:off x="571500" y="1935956"/>
            <a:ext cx="57150" cy="57150"/>
          </a:xfrm>
          <a:prstGeom prst="rect">
            <a:avLst/>
          </a:prstGeom>
          <a:solidFill>
            <a:srgbClr val="3A3D40"/>
          </a:solidFill>
          <a:ln/>
        </p:spPr>
      </p:sp>
      <p:sp>
        <p:nvSpPr>
          <p:cNvPr id="8" name="Text 4"/>
          <p:cNvSpPr/>
          <p:nvPr/>
        </p:nvSpPr>
        <p:spPr>
          <a:xfrm>
            <a:off x="571500" y="1864519"/>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Native app window only.</a:t>
            </a:r>
            <a:endParaRPr lang="en-US" sz="950" dirty="0"/>
          </a:p>
        </p:txBody>
      </p:sp>
      <p:sp>
        <p:nvSpPr>
          <p:cNvPr id="9" name="Shape 5"/>
          <p:cNvSpPr/>
          <p:nvPr/>
        </p:nvSpPr>
        <p:spPr>
          <a:xfrm>
            <a:off x="571500" y="2255974"/>
            <a:ext cx="57150" cy="57150"/>
          </a:xfrm>
          <a:prstGeom prst="rect">
            <a:avLst/>
          </a:prstGeom>
          <a:solidFill>
            <a:srgbClr val="3A3D40"/>
          </a:solidFill>
          <a:ln/>
        </p:spPr>
      </p:sp>
      <p:sp>
        <p:nvSpPr>
          <p:cNvPr id="10" name="Text 6"/>
          <p:cNvSpPr/>
          <p:nvPr/>
        </p:nvSpPr>
        <p:spPr>
          <a:xfrm>
            <a:off x="571500" y="2184536"/>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Captured from the exact installed MSIX candidate.</a:t>
            </a:r>
            <a:endParaRPr lang="en-US" sz="950" dirty="0"/>
          </a:p>
        </p:txBody>
      </p:sp>
      <p:sp>
        <p:nvSpPr>
          <p:cNvPr id="11" name="Shape 7"/>
          <p:cNvSpPr/>
          <p:nvPr/>
        </p:nvSpPr>
        <p:spPr>
          <a:xfrm>
            <a:off x="571500" y="2575992"/>
            <a:ext cx="57150" cy="57150"/>
          </a:xfrm>
          <a:prstGeom prst="rect">
            <a:avLst/>
          </a:prstGeom>
          <a:solidFill>
            <a:srgbClr val="3A3D40"/>
          </a:solidFill>
          <a:ln/>
        </p:spPr>
      </p:sp>
      <p:sp>
        <p:nvSpPr>
          <p:cNvPr id="12" name="Text 8"/>
          <p:cNvSpPr/>
          <p:nvPr/>
        </p:nvSpPr>
        <p:spPr>
          <a:xfrm>
            <a:off x="571500" y="2504554"/>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Tested on a clean Windows device.</a:t>
            </a:r>
            <a:endParaRPr lang="en-US" sz="950" dirty="0"/>
          </a:p>
        </p:txBody>
      </p:sp>
      <p:sp>
        <p:nvSpPr>
          <p:cNvPr id="13" name="Shape 9"/>
          <p:cNvSpPr/>
          <p:nvPr/>
        </p:nvSpPr>
        <p:spPr>
          <a:xfrm>
            <a:off x="571500" y="2896009"/>
            <a:ext cx="57150" cy="57150"/>
          </a:xfrm>
          <a:prstGeom prst="rect">
            <a:avLst/>
          </a:prstGeom>
          <a:solidFill>
            <a:srgbClr val="3A3D40"/>
          </a:solidFill>
          <a:ln/>
        </p:spPr>
      </p:sp>
      <p:sp>
        <p:nvSpPr>
          <p:cNvPr id="14" name="Text 10"/>
          <p:cNvSpPr/>
          <p:nvPr/>
        </p:nvSpPr>
        <p:spPr>
          <a:xfrm>
            <a:off x="571500" y="2824572"/>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PNG format, ≥1366×768, ≤50 MB.</a:t>
            </a:r>
            <a:endParaRPr lang="en-US" sz="950" dirty="0"/>
          </a:p>
        </p:txBody>
      </p:sp>
      <p:sp>
        <p:nvSpPr>
          <p:cNvPr id="15" name="Shape 11"/>
          <p:cNvSpPr/>
          <p:nvPr/>
        </p:nvSpPr>
        <p:spPr>
          <a:xfrm>
            <a:off x="571500" y="3216027"/>
            <a:ext cx="57150" cy="57150"/>
          </a:xfrm>
          <a:prstGeom prst="rect">
            <a:avLst/>
          </a:prstGeom>
          <a:solidFill>
            <a:srgbClr val="3A3D40"/>
          </a:solidFill>
          <a:ln/>
        </p:spPr>
      </p:sp>
      <p:sp>
        <p:nvSpPr>
          <p:cNvPr id="16" name="Text 12"/>
          <p:cNvSpPr/>
          <p:nvPr/>
        </p:nvSpPr>
        <p:spPr>
          <a:xfrm>
            <a:off x="571500" y="3144589"/>
            <a:ext cx="36004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Captions belong in Partner Center, not burned into pixels.</a:t>
            </a:r>
            <a:endParaRPr lang="en-US" sz="950" dirty="0"/>
          </a:p>
        </p:txBody>
      </p:sp>
      <p:sp>
        <p:nvSpPr>
          <p:cNvPr id="17" name="Shape 13"/>
          <p:cNvSpPr/>
          <p:nvPr/>
        </p:nvSpPr>
        <p:spPr>
          <a:xfrm>
            <a:off x="4743450" y="1332309"/>
            <a:ext cx="4057650" cy="3357563"/>
          </a:xfrm>
          <a:prstGeom prst="rect">
            <a:avLst/>
          </a:prstGeom>
          <a:solidFill>
            <a:srgbClr val="25282A"/>
          </a:solidFill>
          <a:ln/>
        </p:spPr>
      </p:sp>
      <p:sp>
        <p:nvSpPr>
          <p:cNvPr id="18" name="Text 14"/>
          <p:cNvSpPr/>
          <p:nvPr/>
        </p:nvSpPr>
        <p:spPr>
          <a:xfrm>
            <a:off x="4972050" y="1560909"/>
            <a:ext cx="3600450" cy="132159"/>
          </a:xfrm>
          <a:prstGeom prst="rect">
            <a:avLst/>
          </a:prstGeom>
          <a:noFill/>
          <a:ln/>
        </p:spPr>
        <p:txBody>
          <a:bodyPr wrap="square" lIns="0" tIns="0" rIns="0" bIns="0" rtlCol="0" anchor="t">
            <a:spAutoFit/>
          </a:bodyPr>
          <a:lstStyle/>
          <a:p>
            <a:pPr algn="l" indent="0" marL="0">
              <a:buNone/>
            </a:pPr>
            <a:r>
              <a:rPr lang="en-US" sz="750" dirty="0">
                <a:solidFill>
                  <a:srgbClr val="E81123"/>
                </a:solidFill>
                <a:latin typeface="JetBrains Mono" pitchFamily="34" charset="0"/>
                <a:ea typeface="JetBrains Mono" pitchFamily="34" charset="-122"/>
                <a:cs typeface="JetBrains Mono" pitchFamily="34" charset="-120"/>
              </a:rPr>
              <a:t>PROHIBITED MOCK SOURCES</a:t>
            </a:r>
            <a:endParaRPr lang="en-US" sz="750" dirty="0"/>
          </a:p>
        </p:txBody>
      </p:sp>
      <p:sp>
        <p:nvSpPr>
          <p:cNvPr id="19" name="Shape 15"/>
          <p:cNvSpPr/>
          <p:nvPr/>
        </p:nvSpPr>
        <p:spPr>
          <a:xfrm>
            <a:off x="4972050" y="1935956"/>
            <a:ext cx="57150" cy="57150"/>
          </a:xfrm>
          <a:prstGeom prst="rect">
            <a:avLst/>
          </a:prstGeom>
          <a:solidFill>
            <a:srgbClr val="3A3D40"/>
          </a:solidFill>
          <a:ln/>
        </p:spPr>
      </p:sp>
      <p:sp>
        <p:nvSpPr>
          <p:cNvPr id="20" name="Text 16"/>
          <p:cNvSpPr/>
          <p:nvPr/>
        </p:nvSpPr>
        <p:spPr>
          <a:xfrm>
            <a:off x="4972050" y="1864519"/>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Browser previews or web pages.</a:t>
            </a:r>
            <a:endParaRPr lang="en-US" sz="950" dirty="0"/>
          </a:p>
        </p:txBody>
      </p:sp>
      <p:sp>
        <p:nvSpPr>
          <p:cNvPr id="21" name="Shape 17"/>
          <p:cNvSpPr/>
          <p:nvPr/>
        </p:nvSpPr>
        <p:spPr>
          <a:xfrm>
            <a:off x="4972050" y="2255974"/>
            <a:ext cx="57150" cy="57150"/>
          </a:xfrm>
          <a:prstGeom prst="rect">
            <a:avLst/>
          </a:prstGeom>
          <a:solidFill>
            <a:srgbClr val="3A3D40"/>
          </a:solidFill>
          <a:ln/>
        </p:spPr>
      </p:sp>
      <p:sp>
        <p:nvSpPr>
          <p:cNvPr id="22" name="Text 18"/>
          <p:cNvSpPr/>
          <p:nvPr/>
        </p:nvSpPr>
        <p:spPr>
          <a:xfrm>
            <a:off x="4972050" y="2184536"/>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Renderer running outside the installed MSIX.</a:t>
            </a:r>
            <a:endParaRPr lang="en-US" sz="950" dirty="0"/>
          </a:p>
        </p:txBody>
      </p:sp>
      <p:sp>
        <p:nvSpPr>
          <p:cNvPr id="23" name="Shape 19"/>
          <p:cNvSpPr/>
          <p:nvPr/>
        </p:nvSpPr>
        <p:spPr>
          <a:xfrm>
            <a:off x="4972050" y="2575992"/>
            <a:ext cx="57150" cy="57150"/>
          </a:xfrm>
          <a:prstGeom prst="rect">
            <a:avLst/>
          </a:prstGeom>
          <a:solidFill>
            <a:srgbClr val="3A3D40"/>
          </a:solidFill>
          <a:ln/>
        </p:spPr>
      </p:sp>
      <p:sp>
        <p:nvSpPr>
          <p:cNvPr id="24" name="Text 20"/>
          <p:cNvSpPr/>
          <p:nvPr/>
        </p:nvSpPr>
        <p:spPr>
          <a:xfrm>
            <a:off x="4972050" y="2504554"/>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Fixture data or mocked IPC bridges.</a:t>
            </a:r>
            <a:endParaRPr lang="en-US" sz="950" dirty="0"/>
          </a:p>
        </p:txBody>
      </p:sp>
      <p:sp>
        <p:nvSpPr>
          <p:cNvPr id="25" name="Shape 21"/>
          <p:cNvSpPr/>
          <p:nvPr/>
        </p:nvSpPr>
        <p:spPr>
          <a:xfrm>
            <a:off x="4972050" y="2896009"/>
            <a:ext cx="57150" cy="57150"/>
          </a:xfrm>
          <a:prstGeom prst="rect">
            <a:avLst/>
          </a:prstGeom>
          <a:solidFill>
            <a:srgbClr val="3A3D40"/>
          </a:solidFill>
          <a:ln/>
        </p:spPr>
      </p:sp>
      <p:sp>
        <p:nvSpPr>
          <p:cNvPr id="26" name="Text 22"/>
          <p:cNvSpPr/>
          <p:nvPr/>
        </p:nvSpPr>
        <p:spPr>
          <a:xfrm>
            <a:off x="4972050" y="2824572"/>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Forced status or button states.</a:t>
            </a:r>
            <a:endParaRPr lang="en-US" sz="950" dirty="0"/>
          </a:p>
        </p:txBody>
      </p:sp>
      <p:sp>
        <p:nvSpPr>
          <p:cNvPr id="27" name="Shape 23"/>
          <p:cNvSpPr/>
          <p:nvPr/>
        </p:nvSpPr>
        <p:spPr>
          <a:xfrm>
            <a:off x="4972050" y="3216027"/>
            <a:ext cx="57150" cy="57150"/>
          </a:xfrm>
          <a:prstGeom prst="rect">
            <a:avLst/>
          </a:prstGeom>
          <a:solidFill>
            <a:srgbClr val="3A3D40"/>
          </a:solidFill>
          <a:ln/>
        </p:spPr>
      </p:sp>
      <p:sp>
        <p:nvSpPr>
          <p:cNvPr id="28" name="Text 24"/>
          <p:cNvSpPr/>
          <p:nvPr/>
        </p:nvSpPr>
        <p:spPr>
          <a:xfrm>
            <a:off x="4972050" y="3144589"/>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Composited or AI-generated mockups.</a:t>
            </a:r>
            <a:endParaRPr lang="en-US" sz="950" dirty="0"/>
          </a:p>
        </p:txBody>
      </p:sp>
      <p:sp>
        <p:nvSpPr>
          <p:cNvPr id="29" name="Shape 25"/>
          <p:cNvSpPr/>
          <p:nvPr/>
        </p:nvSpPr>
        <p:spPr>
          <a:xfrm>
            <a:off x="4972050" y="3536045"/>
            <a:ext cx="57150" cy="57150"/>
          </a:xfrm>
          <a:prstGeom prst="rect">
            <a:avLst/>
          </a:prstGeom>
          <a:solidFill>
            <a:srgbClr val="3A3D40"/>
          </a:solidFill>
          <a:ln/>
        </p:spPr>
      </p:sp>
      <p:sp>
        <p:nvSpPr>
          <p:cNvPr id="30" name="Text 26"/>
          <p:cNvSpPr/>
          <p:nvPr/>
        </p:nvSpPr>
        <p:spPr>
          <a:xfrm>
            <a:off x="4972050" y="3464607"/>
            <a:ext cx="36004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macOS or Linux sessions.</a:t>
            </a:r>
            <a:endParaRPr lang="en-US" sz="950" dirty="0"/>
          </a:p>
        </p:txBody>
      </p:sp>
      <p:sp>
        <p:nvSpPr>
          <p:cNvPr id="31" name="Text 27"/>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32" name="Text 28"/>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Capture Manifest Creates Traceability</a:t>
            </a:r>
            <a:endParaRPr lang="en-US" sz="1600" dirty="0"/>
          </a:p>
        </p:txBody>
      </p:sp>
      <p:sp>
        <p:nvSpPr>
          <p:cNvPr id="5" name="Shape 1"/>
          <p:cNvSpPr/>
          <p:nvPr/>
        </p:nvSpPr>
        <p:spPr>
          <a:xfrm>
            <a:off x="342900" y="2636379"/>
            <a:ext cx="1571625" cy="749368"/>
          </a:xfrm>
          <a:prstGeom prst="rect">
            <a:avLst/>
          </a:prstGeom>
          <a:solidFill>
            <a:srgbClr val="25282A"/>
          </a:solidFill>
          <a:ln/>
        </p:spPr>
      </p:sp>
      <p:sp>
        <p:nvSpPr>
          <p:cNvPr id="6" name="Shape 2"/>
          <p:cNvSpPr/>
          <p:nvPr/>
        </p:nvSpPr>
        <p:spPr>
          <a:xfrm>
            <a:off x="342900" y="2636379"/>
            <a:ext cx="1571625" cy="28575"/>
          </a:xfrm>
          <a:prstGeom prst="rect">
            <a:avLst/>
          </a:prstGeom>
          <a:solidFill>
            <a:srgbClr val="107CFF"/>
          </a:solidFill>
          <a:ln/>
        </p:spPr>
      </p:sp>
      <p:sp>
        <p:nvSpPr>
          <p:cNvPr id="7" name="Text 3"/>
          <p:cNvSpPr/>
          <p:nvPr/>
        </p:nvSpPr>
        <p:spPr>
          <a:xfrm>
            <a:off x="514350" y="2822116"/>
            <a:ext cx="1228725" cy="132159"/>
          </a:xfrm>
          <a:prstGeom prst="rect">
            <a:avLst/>
          </a:prstGeom>
          <a:noFill/>
          <a:ln/>
        </p:spPr>
        <p:txBody>
          <a:bodyPr wrap="none" lIns="0" tIns="0" rIns="0" bIns="0" rtlCol="0" anchor="t">
            <a:spAutoFit/>
          </a:bodyPr>
          <a:lstStyle/>
          <a:p>
            <a:pPr algn="ctr" indent="0" marL="0">
              <a:buNone/>
            </a:pPr>
            <a:r>
              <a:rPr lang="en-US" sz="750" dirty="0">
                <a:solidFill>
                  <a:srgbClr val="A0A4A8"/>
                </a:solidFill>
                <a:latin typeface="JetBrains Mono" pitchFamily="34" charset="0"/>
                <a:ea typeface="JetBrains Mono" pitchFamily="34" charset="-122"/>
                <a:cs typeface="JetBrains Mono" pitchFamily="34" charset="-120"/>
              </a:rPr>
              <a:t>SOURCE</a:t>
            </a:r>
            <a:endParaRPr lang="en-US" sz="750" dirty="0"/>
          </a:p>
        </p:txBody>
      </p:sp>
      <p:sp>
        <p:nvSpPr>
          <p:cNvPr id="8" name="Text 4"/>
          <p:cNvSpPr/>
          <p:nvPr/>
        </p:nvSpPr>
        <p:spPr>
          <a:xfrm>
            <a:off x="514350" y="3040000"/>
            <a:ext cx="1228725" cy="160009"/>
          </a:xfrm>
          <a:prstGeom prst="rect">
            <a:avLst/>
          </a:prstGeom>
          <a:noFill/>
          <a:ln/>
        </p:spPr>
        <p:txBody>
          <a:bodyPr wrap="none" lIns="0" tIns="0" rIns="0" bIns="0" rtlCol="0" anchor="t">
            <a:spAutoFit/>
          </a:bodyPr>
          <a:lstStyle/>
          <a:p>
            <a:pPr algn="ctr" indent="0" marL="0">
              <a:lnSpc>
                <a:spcPct val="112000"/>
              </a:lnSpc>
              <a:buNone/>
            </a:pPr>
            <a:r>
              <a:rPr lang="en-US" sz="850" dirty="0">
                <a:solidFill>
                  <a:srgbClr val="FFFFFF"/>
                </a:solidFill>
                <a:latin typeface="Inter" pitchFamily="34" charset="0"/>
                <a:ea typeface="Inter" pitchFamily="34" charset="-122"/>
                <a:cs typeface="Inter" pitchFamily="34" charset="-120"/>
              </a:rPr>
              <a:t>Canonical commit</a:t>
            </a:r>
            <a:endParaRPr lang="en-US" sz="850" dirty="0"/>
          </a:p>
        </p:txBody>
      </p:sp>
      <p:sp>
        <p:nvSpPr>
          <p:cNvPr id="9" name="Text 5"/>
          <p:cNvSpPr/>
          <p:nvPr/>
        </p:nvSpPr>
        <p:spPr>
          <a:xfrm>
            <a:off x="2190731" y="2905720"/>
            <a:ext cx="171450" cy="210741"/>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Inter" pitchFamily="34" charset="0"/>
                <a:ea typeface="Inter" pitchFamily="34" charset="-122"/>
                <a:cs typeface="Inter" pitchFamily="34" charset="-120"/>
              </a:rPr>
              <a:t>→</a:t>
            </a:r>
            <a:endParaRPr lang="en-US" sz="1250" dirty="0"/>
          </a:p>
        </p:txBody>
      </p:sp>
      <p:sp>
        <p:nvSpPr>
          <p:cNvPr id="10" name="Shape 6"/>
          <p:cNvSpPr/>
          <p:nvPr/>
        </p:nvSpPr>
        <p:spPr>
          <a:xfrm>
            <a:off x="2638388" y="2556402"/>
            <a:ext cx="1571625" cy="909377"/>
          </a:xfrm>
          <a:prstGeom prst="rect">
            <a:avLst/>
          </a:prstGeom>
          <a:solidFill>
            <a:srgbClr val="25282A"/>
          </a:solidFill>
          <a:ln/>
        </p:spPr>
      </p:sp>
      <p:sp>
        <p:nvSpPr>
          <p:cNvPr id="11" name="Shape 7"/>
          <p:cNvSpPr/>
          <p:nvPr/>
        </p:nvSpPr>
        <p:spPr>
          <a:xfrm>
            <a:off x="2638388" y="2556402"/>
            <a:ext cx="1571625" cy="28575"/>
          </a:xfrm>
          <a:prstGeom prst="rect">
            <a:avLst/>
          </a:prstGeom>
          <a:solidFill>
            <a:srgbClr val="107CFF"/>
          </a:solidFill>
          <a:ln/>
        </p:spPr>
      </p:sp>
      <p:sp>
        <p:nvSpPr>
          <p:cNvPr id="12" name="Text 8"/>
          <p:cNvSpPr/>
          <p:nvPr/>
        </p:nvSpPr>
        <p:spPr>
          <a:xfrm>
            <a:off x="2809838" y="2742140"/>
            <a:ext cx="1228725" cy="132159"/>
          </a:xfrm>
          <a:prstGeom prst="rect">
            <a:avLst/>
          </a:prstGeom>
          <a:noFill/>
          <a:ln/>
        </p:spPr>
        <p:txBody>
          <a:bodyPr wrap="none" lIns="0" tIns="0" rIns="0" bIns="0" rtlCol="0" anchor="t">
            <a:spAutoFit/>
          </a:bodyPr>
          <a:lstStyle/>
          <a:p>
            <a:pPr algn="ctr" indent="0" marL="0">
              <a:buNone/>
            </a:pPr>
            <a:r>
              <a:rPr lang="en-US" sz="750" dirty="0">
                <a:solidFill>
                  <a:srgbClr val="A0A4A8"/>
                </a:solidFill>
                <a:latin typeface="JetBrains Mono" pitchFamily="34" charset="0"/>
                <a:ea typeface="JetBrains Mono" pitchFamily="34" charset="-122"/>
                <a:cs typeface="JetBrains Mono" pitchFamily="34" charset="-120"/>
              </a:rPr>
              <a:t>CANDIDATE</a:t>
            </a:r>
            <a:endParaRPr lang="en-US" sz="750" dirty="0"/>
          </a:p>
        </p:txBody>
      </p:sp>
      <p:sp>
        <p:nvSpPr>
          <p:cNvPr id="13" name="Text 9"/>
          <p:cNvSpPr/>
          <p:nvPr/>
        </p:nvSpPr>
        <p:spPr>
          <a:xfrm>
            <a:off x="2809838" y="2960024"/>
            <a:ext cx="1228725"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FFFFFF"/>
                </a:solidFill>
                <a:latin typeface="Inter" pitchFamily="34" charset="0"/>
                <a:ea typeface="Inter" pitchFamily="34" charset="-122"/>
                <a:cs typeface="Inter" pitchFamily="34" charset="-120"/>
              </a:rPr>
              <a:t>Bundle &amp; Manifest Hashes</a:t>
            </a:r>
            <a:endParaRPr lang="en-US" sz="850" dirty="0"/>
          </a:p>
        </p:txBody>
      </p:sp>
      <p:sp>
        <p:nvSpPr>
          <p:cNvPr id="14" name="Text 10"/>
          <p:cNvSpPr/>
          <p:nvPr/>
        </p:nvSpPr>
        <p:spPr>
          <a:xfrm>
            <a:off x="4486219" y="2905720"/>
            <a:ext cx="171450" cy="210741"/>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Inter" pitchFamily="34" charset="0"/>
                <a:ea typeface="Inter" pitchFamily="34" charset="-122"/>
                <a:cs typeface="Inter" pitchFamily="34" charset="-120"/>
              </a:rPr>
              <a:t>→</a:t>
            </a:r>
            <a:endParaRPr lang="en-US" sz="1250" dirty="0"/>
          </a:p>
        </p:txBody>
      </p:sp>
      <p:sp>
        <p:nvSpPr>
          <p:cNvPr id="15" name="Shape 11"/>
          <p:cNvSpPr/>
          <p:nvPr/>
        </p:nvSpPr>
        <p:spPr>
          <a:xfrm>
            <a:off x="4933876" y="2636379"/>
            <a:ext cx="1571625" cy="749368"/>
          </a:xfrm>
          <a:prstGeom prst="rect">
            <a:avLst/>
          </a:prstGeom>
          <a:solidFill>
            <a:srgbClr val="25282A"/>
          </a:solidFill>
          <a:ln/>
        </p:spPr>
      </p:sp>
      <p:sp>
        <p:nvSpPr>
          <p:cNvPr id="16" name="Shape 12"/>
          <p:cNvSpPr/>
          <p:nvPr/>
        </p:nvSpPr>
        <p:spPr>
          <a:xfrm>
            <a:off x="4933876" y="2636379"/>
            <a:ext cx="1571625" cy="28575"/>
          </a:xfrm>
          <a:prstGeom prst="rect">
            <a:avLst/>
          </a:prstGeom>
          <a:solidFill>
            <a:srgbClr val="107CFF"/>
          </a:solidFill>
          <a:ln/>
        </p:spPr>
      </p:sp>
      <p:sp>
        <p:nvSpPr>
          <p:cNvPr id="17" name="Text 13"/>
          <p:cNvSpPr/>
          <p:nvPr/>
        </p:nvSpPr>
        <p:spPr>
          <a:xfrm>
            <a:off x="5105326" y="2822116"/>
            <a:ext cx="1228725" cy="132159"/>
          </a:xfrm>
          <a:prstGeom prst="rect">
            <a:avLst/>
          </a:prstGeom>
          <a:noFill/>
          <a:ln/>
        </p:spPr>
        <p:txBody>
          <a:bodyPr wrap="none" lIns="0" tIns="0" rIns="0" bIns="0" rtlCol="0" anchor="t">
            <a:spAutoFit/>
          </a:bodyPr>
          <a:lstStyle/>
          <a:p>
            <a:pPr algn="ctr" indent="0" marL="0">
              <a:buNone/>
            </a:pPr>
            <a:r>
              <a:rPr lang="en-US" sz="750" dirty="0">
                <a:solidFill>
                  <a:srgbClr val="A0A4A8"/>
                </a:solidFill>
                <a:latin typeface="JetBrains Mono" pitchFamily="34" charset="0"/>
                <a:ea typeface="JetBrains Mono" pitchFamily="34" charset="-122"/>
                <a:cs typeface="JetBrains Mono" pitchFamily="34" charset="-120"/>
              </a:rPr>
              <a:t>TEST RECORD</a:t>
            </a:r>
            <a:endParaRPr lang="en-US" sz="750" dirty="0"/>
          </a:p>
        </p:txBody>
      </p:sp>
      <p:sp>
        <p:nvSpPr>
          <p:cNvPr id="18" name="Text 14"/>
          <p:cNvSpPr/>
          <p:nvPr/>
        </p:nvSpPr>
        <p:spPr>
          <a:xfrm>
            <a:off x="5105326" y="3040000"/>
            <a:ext cx="1228725" cy="160009"/>
          </a:xfrm>
          <a:prstGeom prst="rect">
            <a:avLst/>
          </a:prstGeom>
          <a:noFill/>
          <a:ln/>
        </p:spPr>
        <p:txBody>
          <a:bodyPr wrap="none" lIns="0" tIns="0" rIns="0" bIns="0" rtlCol="0" anchor="t">
            <a:spAutoFit/>
          </a:bodyPr>
          <a:lstStyle/>
          <a:p>
            <a:pPr algn="ctr" indent="0" marL="0">
              <a:lnSpc>
                <a:spcPct val="112000"/>
              </a:lnSpc>
              <a:buNone/>
            </a:pPr>
            <a:r>
              <a:rPr lang="en-US" sz="850" dirty="0">
                <a:solidFill>
                  <a:srgbClr val="FFFFFF"/>
                </a:solidFill>
                <a:latin typeface="Inter" pitchFamily="34" charset="0"/>
                <a:ea typeface="Inter" pitchFamily="34" charset="-122"/>
                <a:cs typeface="Inter" pitchFamily="34" charset="-120"/>
              </a:rPr>
              <a:t>Clean-Windows Proof</a:t>
            </a:r>
            <a:endParaRPr lang="en-US" sz="850" dirty="0"/>
          </a:p>
        </p:txBody>
      </p:sp>
      <p:sp>
        <p:nvSpPr>
          <p:cNvPr id="19" name="Text 15"/>
          <p:cNvSpPr/>
          <p:nvPr/>
        </p:nvSpPr>
        <p:spPr>
          <a:xfrm>
            <a:off x="6781707" y="2905720"/>
            <a:ext cx="171450" cy="210741"/>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Inter" pitchFamily="34" charset="0"/>
                <a:ea typeface="Inter" pitchFamily="34" charset="-122"/>
                <a:cs typeface="Inter" pitchFamily="34" charset="-120"/>
              </a:rPr>
              <a:t>→</a:t>
            </a:r>
            <a:endParaRPr lang="en-US" sz="1250" dirty="0"/>
          </a:p>
        </p:txBody>
      </p:sp>
      <p:sp>
        <p:nvSpPr>
          <p:cNvPr id="20" name="Shape 16"/>
          <p:cNvSpPr/>
          <p:nvPr/>
        </p:nvSpPr>
        <p:spPr>
          <a:xfrm>
            <a:off x="7229363" y="2556402"/>
            <a:ext cx="1571625" cy="909377"/>
          </a:xfrm>
          <a:prstGeom prst="rect">
            <a:avLst/>
          </a:prstGeom>
          <a:solidFill>
            <a:srgbClr val="25282A"/>
          </a:solidFill>
          <a:ln/>
        </p:spPr>
      </p:sp>
      <p:sp>
        <p:nvSpPr>
          <p:cNvPr id="21" name="Shape 17"/>
          <p:cNvSpPr/>
          <p:nvPr/>
        </p:nvSpPr>
        <p:spPr>
          <a:xfrm>
            <a:off x="7229363" y="2556402"/>
            <a:ext cx="1571625" cy="28575"/>
          </a:xfrm>
          <a:prstGeom prst="rect">
            <a:avLst/>
          </a:prstGeom>
          <a:solidFill>
            <a:srgbClr val="107CFF"/>
          </a:solidFill>
          <a:ln/>
        </p:spPr>
      </p:sp>
      <p:sp>
        <p:nvSpPr>
          <p:cNvPr id="22" name="Text 18"/>
          <p:cNvSpPr/>
          <p:nvPr/>
        </p:nvSpPr>
        <p:spPr>
          <a:xfrm>
            <a:off x="7400813" y="2742140"/>
            <a:ext cx="1228725" cy="132159"/>
          </a:xfrm>
          <a:prstGeom prst="rect">
            <a:avLst/>
          </a:prstGeom>
          <a:noFill/>
          <a:ln/>
        </p:spPr>
        <p:txBody>
          <a:bodyPr wrap="none" lIns="0" tIns="0" rIns="0" bIns="0" rtlCol="0" anchor="t">
            <a:spAutoFit/>
          </a:bodyPr>
          <a:lstStyle/>
          <a:p>
            <a:pPr algn="ctr" indent="0" marL="0">
              <a:buNone/>
            </a:pPr>
            <a:r>
              <a:rPr lang="en-US" sz="750" dirty="0">
                <a:solidFill>
                  <a:srgbClr val="A0A4A8"/>
                </a:solidFill>
                <a:latin typeface="JetBrains Mono" pitchFamily="34" charset="0"/>
                <a:ea typeface="JetBrains Mono" pitchFamily="34" charset="-122"/>
                <a:cs typeface="JetBrains Mono" pitchFamily="34" charset="-120"/>
              </a:rPr>
              <a:t>PER-PNG</a:t>
            </a:r>
            <a:endParaRPr lang="en-US" sz="750" dirty="0"/>
          </a:p>
        </p:txBody>
      </p:sp>
      <p:sp>
        <p:nvSpPr>
          <p:cNvPr id="23" name="Text 19"/>
          <p:cNvSpPr/>
          <p:nvPr/>
        </p:nvSpPr>
        <p:spPr>
          <a:xfrm>
            <a:off x="7400813" y="2960024"/>
            <a:ext cx="1228725"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FFFFFF"/>
                </a:solidFill>
                <a:latin typeface="Inter" pitchFamily="34" charset="0"/>
                <a:ea typeface="Inter" pitchFamily="34" charset="-122"/>
                <a:cs typeface="Inter" pitchFamily="34" charset="-120"/>
              </a:rPr>
              <a:t>Origin, Time, &amp; File Hash</a:t>
            </a:r>
            <a:endParaRPr lang="en-US" sz="850" dirty="0"/>
          </a:p>
        </p:txBody>
      </p:sp>
      <p:sp>
        <p:nvSpPr>
          <p:cNvPr id="24" name="Text 20"/>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25" name="Text 21"/>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What the Current Evidence Proves</a:t>
            </a:r>
            <a:endParaRPr lang="en-US" sz="1600" dirty="0"/>
          </a:p>
        </p:txBody>
      </p:sp>
      <p:sp>
        <p:nvSpPr>
          <p:cNvPr id="5" name="Shape 1"/>
          <p:cNvSpPr/>
          <p:nvPr/>
        </p:nvSpPr>
        <p:spPr>
          <a:xfrm>
            <a:off x="342900" y="1332309"/>
            <a:ext cx="4057650" cy="3357563"/>
          </a:xfrm>
          <a:prstGeom prst="rect">
            <a:avLst/>
          </a:prstGeom>
          <a:solidFill>
            <a:srgbClr val="25282A"/>
          </a:solidFill>
          <a:ln/>
        </p:spPr>
      </p:sp>
      <p:sp>
        <p:nvSpPr>
          <p:cNvPr id="6" name="Text 2"/>
          <p:cNvSpPr/>
          <p:nvPr/>
        </p:nvSpPr>
        <p:spPr>
          <a:xfrm>
            <a:off x="628650" y="1618059"/>
            <a:ext cx="3486150" cy="153591"/>
          </a:xfrm>
          <a:prstGeom prst="rect">
            <a:avLst/>
          </a:prstGeom>
          <a:noFill/>
          <a:ln/>
        </p:spPr>
        <p:txBody>
          <a:bodyPr wrap="square" lIns="0" tIns="0" rIns="0" bIns="0" rtlCol="0" anchor="t">
            <a:spAutoFit/>
          </a:bodyPr>
          <a:lstStyle/>
          <a:p>
            <a:pPr algn="l" indent="0" marL="0">
              <a:buNone/>
            </a:pPr>
            <a:r>
              <a:rPr lang="en-US" sz="850" dirty="0">
                <a:solidFill>
                  <a:srgbClr val="107CFF"/>
                </a:solidFill>
                <a:latin typeface="JetBrains Mono" pitchFamily="34" charset="0"/>
                <a:ea typeface="JetBrains Mono" pitchFamily="34" charset="-122"/>
                <a:cs typeface="JetBrains Mono" pitchFamily="34" charset="-120"/>
              </a:rPr>
              <a:t>VERIFIED EXISTS</a:t>
            </a:r>
            <a:endParaRPr lang="en-US" sz="850" dirty="0"/>
          </a:p>
        </p:txBody>
      </p:sp>
      <p:sp>
        <p:nvSpPr>
          <p:cNvPr id="7" name="Shape 3"/>
          <p:cNvSpPr/>
          <p:nvPr/>
        </p:nvSpPr>
        <p:spPr>
          <a:xfrm>
            <a:off x="628650" y="2014538"/>
            <a:ext cx="57150" cy="57150"/>
          </a:xfrm>
          <a:prstGeom prst="rect">
            <a:avLst/>
          </a:prstGeom>
          <a:solidFill>
            <a:srgbClr val="3A3D40"/>
          </a:solidFill>
          <a:ln/>
        </p:spPr>
      </p:sp>
      <p:sp>
        <p:nvSpPr>
          <p:cNvPr id="8" name="Text 4"/>
          <p:cNvSpPr/>
          <p:nvPr/>
        </p:nvSpPr>
        <p:spPr>
          <a:xfrm>
            <a:off x="628650" y="1943100"/>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Canonical Electron desktop source.</a:t>
            </a:r>
            <a:endParaRPr lang="en-US" sz="950" dirty="0"/>
          </a:p>
        </p:txBody>
      </p:sp>
      <p:sp>
        <p:nvSpPr>
          <p:cNvPr id="9" name="Shape 5"/>
          <p:cNvSpPr/>
          <p:nvPr/>
        </p:nvSpPr>
        <p:spPr>
          <a:xfrm>
            <a:off x="628650" y="2391705"/>
            <a:ext cx="57150" cy="57150"/>
          </a:xfrm>
          <a:prstGeom prst="rect">
            <a:avLst/>
          </a:prstGeom>
          <a:solidFill>
            <a:srgbClr val="3A3D40"/>
          </a:solidFill>
          <a:ln/>
        </p:spPr>
      </p:sp>
      <p:sp>
        <p:nvSpPr>
          <p:cNvPr id="10" name="Text 6"/>
          <p:cNvSpPr/>
          <p:nvPr/>
        </p:nvSpPr>
        <p:spPr>
          <a:xfrm>
            <a:off x="628650" y="2320268"/>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MSIX build scripts and AppX assets.</a:t>
            </a:r>
            <a:endParaRPr lang="en-US" sz="950" dirty="0"/>
          </a:p>
        </p:txBody>
      </p:sp>
      <p:sp>
        <p:nvSpPr>
          <p:cNvPr id="11" name="Shape 7"/>
          <p:cNvSpPr/>
          <p:nvPr/>
        </p:nvSpPr>
        <p:spPr>
          <a:xfrm>
            <a:off x="628650" y="2768873"/>
            <a:ext cx="57150" cy="57150"/>
          </a:xfrm>
          <a:prstGeom prst="rect">
            <a:avLst/>
          </a:prstGeom>
          <a:solidFill>
            <a:srgbClr val="3A3D40"/>
          </a:solidFill>
          <a:ln/>
        </p:spPr>
      </p:sp>
      <p:sp>
        <p:nvSpPr>
          <p:cNvPr id="12" name="Text 8"/>
          <p:cNvSpPr/>
          <p:nvPr/>
        </p:nvSpPr>
        <p:spPr>
          <a:xfrm>
            <a:off x="628650" y="2697435"/>
            <a:ext cx="3486150" cy="411435"/>
          </a:xfrm>
          <a:prstGeom prst="rect">
            <a:avLst/>
          </a:prstGeom>
          <a:noFill/>
          <a:ln/>
        </p:spPr>
        <p:txBody>
          <a:bodyPr wrap="squar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Actual unsigned x64/ARM64 candidate built at </a:t>
            </a:r>
            <a:r>
              <a:rPr lang="en-US" sz="650" dirty="0">
                <a:solidFill>
                  <a:srgbClr val="107CFF"/>
                </a:solidFill>
                <a:latin typeface="JetBrains Mono" pitchFamily="34" charset="0"/>
                <a:ea typeface="JetBrains Mono" pitchFamily="34" charset="-122"/>
                <a:cs typeface="JetBrains Mono" pitchFamily="34" charset="-120"/>
              </a:rPr>
              <a:t>f62ef8b…</a:t>
            </a:r>
            <a:r>
              <a:rPr lang="en-US" sz="950" dirty="0">
                <a:solidFill>
                  <a:srgbClr val="FFFFFF"/>
                </a:solidFill>
                <a:latin typeface="Inter" pitchFamily="34" charset="0"/>
                <a:ea typeface="Inter" pitchFamily="34" charset="-122"/>
                <a:cs typeface="Inter" pitchFamily="34" charset="-120"/>
              </a:rPr>
              <a:t>.</a:t>
            </a:r>
            <a:endParaRPr lang="en-US" sz="950" dirty="0"/>
          </a:p>
        </p:txBody>
      </p:sp>
      <p:sp>
        <p:nvSpPr>
          <p:cNvPr id="13" name="Shape 9"/>
          <p:cNvSpPr/>
          <p:nvPr/>
        </p:nvSpPr>
        <p:spPr>
          <a:xfrm>
            <a:off x="628650" y="3351758"/>
            <a:ext cx="57150" cy="57150"/>
          </a:xfrm>
          <a:prstGeom prst="rect">
            <a:avLst/>
          </a:prstGeom>
          <a:solidFill>
            <a:srgbClr val="3A3D40"/>
          </a:solidFill>
          <a:ln/>
        </p:spPr>
      </p:sp>
      <p:sp>
        <p:nvSpPr>
          <p:cNvPr id="14" name="Text 10"/>
          <p:cNvSpPr/>
          <p:nvPr/>
        </p:nvSpPr>
        <p:spPr>
          <a:xfrm>
            <a:off x="628650" y="3280321"/>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Current direct-download Windows ZIP.</a:t>
            </a:r>
            <a:endParaRPr lang="en-US" sz="950" dirty="0"/>
          </a:p>
        </p:txBody>
      </p:sp>
      <p:sp>
        <p:nvSpPr>
          <p:cNvPr id="15" name="Shape 11"/>
          <p:cNvSpPr/>
          <p:nvPr/>
        </p:nvSpPr>
        <p:spPr>
          <a:xfrm>
            <a:off x="4743450" y="1332309"/>
            <a:ext cx="4057650" cy="3357563"/>
          </a:xfrm>
          <a:prstGeom prst="rect">
            <a:avLst/>
          </a:prstGeom>
          <a:solidFill>
            <a:srgbClr val="25282A"/>
          </a:solidFill>
          <a:ln/>
        </p:spPr>
      </p:sp>
      <p:sp>
        <p:nvSpPr>
          <p:cNvPr id="16" name="Text 12"/>
          <p:cNvSpPr/>
          <p:nvPr/>
        </p:nvSpPr>
        <p:spPr>
          <a:xfrm>
            <a:off x="5029200" y="1618059"/>
            <a:ext cx="3486150" cy="153591"/>
          </a:xfrm>
          <a:prstGeom prst="rect">
            <a:avLst/>
          </a:prstGeom>
          <a:noFill/>
          <a:ln/>
        </p:spPr>
        <p:txBody>
          <a:bodyPr wrap="square" lIns="0" tIns="0" rIns="0" bIns="0" rtlCol="0" anchor="t">
            <a:spAutoFit/>
          </a:bodyPr>
          <a:lstStyle/>
          <a:p>
            <a:pPr algn="l" indent="0" marL="0">
              <a:buNone/>
            </a:pPr>
            <a:r>
              <a:rPr lang="en-US" sz="850" dirty="0">
                <a:solidFill>
                  <a:srgbClr val="E81123"/>
                </a:solidFill>
                <a:latin typeface="JetBrains Mono" pitchFamily="34" charset="0"/>
                <a:ea typeface="JetBrains Mono" pitchFamily="34" charset="-122"/>
                <a:cs typeface="JetBrains Mono" pitchFamily="34" charset="-120"/>
              </a:rPr>
              <a:t>STILL REQUIRED FOR STORE</a:t>
            </a:r>
            <a:endParaRPr lang="en-US" sz="850" dirty="0"/>
          </a:p>
        </p:txBody>
      </p:sp>
      <p:sp>
        <p:nvSpPr>
          <p:cNvPr id="17" name="Shape 13"/>
          <p:cNvSpPr/>
          <p:nvPr/>
        </p:nvSpPr>
        <p:spPr>
          <a:xfrm>
            <a:off x="5029200" y="2014538"/>
            <a:ext cx="57150" cy="57150"/>
          </a:xfrm>
          <a:prstGeom prst="rect">
            <a:avLst/>
          </a:prstGeom>
          <a:solidFill>
            <a:srgbClr val="3A3D40"/>
          </a:solidFill>
          <a:ln/>
        </p:spPr>
      </p:sp>
      <p:sp>
        <p:nvSpPr>
          <p:cNvPr id="18" name="Text 14"/>
          <p:cNvSpPr/>
          <p:nvPr/>
        </p:nvSpPr>
        <p:spPr>
          <a:xfrm>
            <a:off x="5029200" y="1943100"/>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Protected Partner Center identity configuration.</a:t>
            </a:r>
            <a:endParaRPr lang="en-US" sz="950" dirty="0"/>
          </a:p>
        </p:txBody>
      </p:sp>
      <p:sp>
        <p:nvSpPr>
          <p:cNvPr id="19" name="Shape 15"/>
          <p:cNvSpPr/>
          <p:nvPr/>
        </p:nvSpPr>
        <p:spPr>
          <a:xfrm>
            <a:off x="5029200" y="2391705"/>
            <a:ext cx="57150" cy="57150"/>
          </a:xfrm>
          <a:prstGeom prst="rect">
            <a:avLst/>
          </a:prstGeom>
          <a:solidFill>
            <a:srgbClr val="3A3D40"/>
          </a:solidFill>
          <a:ln/>
        </p:spPr>
      </p:sp>
      <p:sp>
        <p:nvSpPr>
          <p:cNvPr id="20" name="Text 16"/>
          <p:cNvSpPr/>
          <p:nvPr/>
        </p:nvSpPr>
        <p:spPr>
          <a:xfrm>
            <a:off x="5029200" y="2320268"/>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Independently verified unsigned MSIX bundle.</a:t>
            </a:r>
            <a:endParaRPr lang="en-US" sz="950" dirty="0"/>
          </a:p>
        </p:txBody>
      </p:sp>
      <p:sp>
        <p:nvSpPr>
          <p:cNvPr id="21" name="Shape 17"/>
          <p:cNvSpPr/>
          <p:nvPr/>
        </p:nvSpPr>
        <p:spPr>
          <a:xfrm>
            <a:off x="5029200" y="2768873"/>
            <a:ext cx="57150" cy="57150"/>
          </a:xfrm>
          <a:prstGeom prst="rect">
            <a:avLst/>
          </a:prstGeom>
          <a:solidFill>
            <a:srgbClr val="3A3D40"/>
          </a:solidFill>
          <a:ln/>
        </p:spPr>
      </p:sp>
      <p:sp>
        <p:nvSpPr>
          <p:cNvPr id="22" name="Text 18"/>
          <p:cNvSpPr/>
          <p:nvPr/>
        </p:nvSpPr>
        <p:spPr>
          <a:xfrm>
            <a:off x="5029200" y="2697435"/>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Matching clean-Windows test record.</a:t>
            </a:r>
            <a:endParaRPr lang="en-US" sz="950" dirty="0"/>
          </a:p>
        </p:txBody>
      </p:sp>
      <p:sp>
        <p:nvSpPr>
          <p:cNvPr id="23" name="Shape 19"/>
          <p:cNvSpPr/>
          <p:nvPr/>
        </p:nvSpPr>
        <p:spPr>
          <a:xfrm>
            <a:off x="5029200" y="3146041"/>
            <a:ext cx="57150" cy="57150"/>
          </a:xfrm>
          <a:prstGeom prst="rect">
            <a:avLst/>
          </a:prstGeom>
          <a:solidFill>
            <a:srgbClr val="3A3D40"/>
          </a:solidFill>
          <a:ln/>
        </p:spPr>
      </p:sp>
      <p:sp>
        <p:nvSpPr>
          <p:cNvPr id="24" name="Text 20"/>
          <p:cNvSpPr/>
          <p:nvPr/>
        </p:nvSpPr>
        <p:spPr>
          <a:xfrm>
            <a:off x="5029200" y="3074603"/>
            <a:ext cx="3486150" cy="205718"/>
          </a:xfrm>
          <a:prstGeom prst="rect">
            <a:avLst/>
          </a:prstGeom>
          <a:noFill/>
          <a:ln/>
        </p:spPr>
        <p:txBody>
          <a:bodyPr wrap="none" lIns="204089" tIns="0" rIns="0" bIns="0" rtlCol="0" anchor="t">
            <a:spAutoFit/>
          </a:bodyPr>
          <a:lstStyle/>
          <a:p>
            <a:pPr algn="l" indent="0" marL="0">
              <a:lnSpc>
                <a:spcPct val="128000"/>
              </a:lnSpc>
              <a:buNone/>
            </a:pPr>
            <a:r>
              <a:rPr lang="en-US" sz="950" dirty="0">
                <a:solidFill>
                  <a:srgbClr val="FFFFFF"/>
                </a:solidFill>
                <a:latin typeface="Inter" pitchFamily="34" charset="0"/>
                <a:ea typeface="Inter" pitchFamily="34" charset="-122"/>
                <a:cs typeface="Inter" pitchFamily="34" charset="-120"/>
              </a:rPr>
              <a:t>Genuine native screenshots from that candidate.</a:t>
            </a:r>
            <a:endParaRPr lang="en-US" sz="950" dirty="0"/>
          </a:p>
        </p:txBody>
      </p:sp>
      <p:sp>
        <p:nvSpPr>
          <p:cNvPr id="25" name="Text 21"/>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26" name="Text 22"/>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07</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Five Sequential Release Gates</a:t>
            </a:r>
            <a:endParaRPr lang="en-US" sz="1600" dirty="0"/>
          </a:p>
        </p:txBody>
      </p:sp>
      <p:sp>
        <p:nvSpPr>
          <p:cNvPr id="5" name="Shape 1"/>
          <p:cNvSpPr/>
          <p:nvPr/>
        </p:nvSpPr>
        <p:spPr>
          <a:xfrm>
            <a:off x="342900" y="1362670"/>
            <a:ext cx="8458200" cy="567928"/>
          </a:xfrm>
          <a:prstGeom prst="rect">
            <a:avLst/>
          </a:prstGeom>
          <a:solidFill>
            <a:srgbClr val="25282A"/>
          </a:solidFill>
          <a:ln/>
        </p:spPr>
      </p:sp>
      <p:sp>
        <p:nvSpPr>
          <p:cNvPr id="6" name="Text 2"/>
          <p:cNvSpPr/>
          <p:nvPr/>
        </p:nvSpPr>
        <p:spPr>
          <a:xfrm>
            <a:off x="571500" y="1534120"/>
            <a:ext cx="457200" cy="225028"/>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JetBrains Mono" pitchFamily="34" charset="0"/>
                <a:ea typeface="JetBrains Mono" pitchFamily="34" charset="-122"/>
                <a:cs typeface="JetBrains Mono" pitchFamily="34" charset="-120"/>
              </a:rPr>
              <a:t>01</a:t>
            </a:r>
            <a:endParaRPr lang="en-US" sz="1250" dirty="0"/>
          </a:p>
        </p:txBody>
      </p:sp>
      <p:sp>
        <p:nvSpPr>
          <p:cNvPr id="7" name="Text 3"/>
          <p:cNvSpPr/>
          <p:nvPr/>
        </p:nvSpPr>
        <p:spPr>
          <a:xfrm>
            <a:off x="1028700" y="1559123"/>
            <a:ext cx="2143125" cy="175022"/>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SemiBold" pitchFamily="34" charset="0"/>
                <a:ea typeface="Inter SemiBold" pitchFamily="34" charset="-122"/>
                <a:cs typeface="Inter SemiBold" pitchFamily="34" charset="-120"/>
              </a:rPr>
              <a:t>Source &amp; Identity</a:t>
            </a:r>
            <a:endParaRPr lang="en-US" sz="1000" dirty="0"/>
          </a:p>
        </p:txBody>
      </p:sp>
      <p:sp>
        <p:nvSpPr>
          <p:cNvPr id="8" name="Text 4"/>
          <p:cNvSpPr/>
          <p:nvPr/>
        </p:nvSpPr>
        <p:spPr>
          <a:xfrm>
            <a:off x="3171825" y="1576983"/>
            <a:ext cx="5400675" cy="139303"/>
          </a:xfrm>
          <a:prstGeom prst="rect">
            <a:avLst/>
          </a:prstGeom>
          <a:noFill/>
          <a:ln/>
        </p:spPr>
        <p:txBody>
          <a:bodyPr wrap="square" lIns="0" tIns="0" rIns="0" bIns="0" rtlCol="0" anchor="t">
            <a:spAutoFit/>
          </a:bodyPr>
          <a:lstStyle/>
          <a:p>
            <a:pPr algn="l" indent="0" marL="0">
              <a:buNone/>
            </a:pPr>
            <a:r>
              <a:rPr lang="en-US" sz="850" dirty="0">
                <a:solidFill>
                  <a:srgbClr val="A0A4A8"/>
                </a:solidFill>
                <a:latin typeface="Inter" pitchFamily="34" charset="0"/>
                <a:ea typeface="Inter" pitchFamily="34" charset="-122"/>
                <a:cs typeface="Inter" pitchFamily="34" charset="-120"/>
              </a:rPr>
              <a:t>Canonical desktop source + protected Partner Center identity values.</a:t>
            </a:r>
            <a:endParaRPr lang="en-US" sz="850" dirty="0"/>
          </a:p>
        </p:txBody>
      </p:sp>
      <p:sp>
        <p:nvSpPr>
          <p:cNvPr id="9" name="Shape 5"/>
          <p:cNvSpPr/>
          <p:nvPr/>
        </p:nvSpPr>
        <p:spPr>
          <a:xfrm>
            <a:off x="342900" y="2044898"/>
            <a:ext cx="8458200" cy="567928"/>
          </a:xfrm>
          <a:prstGeom prst="rect">
            <a:avLst/>
          </a:prstGeom>
          <a:solidFill>
            <a:srgbClr val="25282A"/>
          </a:solidFill>
          <a:ln/>
        </p:spPr>
      </p:sp>
      <p:sp>
        <p:nvSpPr>
          <p:cNvPr id="10" name="Text 6"/>
          <p:cNvSpPr/>
          <p:nvPr/>
        </p:nvSpPr>
        <p:spPr>
          <a:xfrm>
            <a:off x="571500" y="2216348"/>
            <a:ext cx="457200" cy="225028"/>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JetBrains Mono" pitchFamily="34" charset="0"/>
                <a:ea typeface="JetBrains Mono" pitchFamily="34" charset="-122"/>
                <a:cs typeface="JetBrains Mono" pitchFamily="34" charset="-120"/>
              </a:rPr>
              <a:t>02</a:t>
            </a:r>
            <a:endParaRPr lang="en-US" sz="1250" dirty="0"/>
          </a:p>
        </p:txBody>
      </p:sp>
      <p:sp>
        <p:nvSpPr>
          <p:cNvPr id="11" name="Text 7"/>
          <p:cNvSpPr/>
          <p:nvPr/>
        </p:nvSpPr>
        <p:spPr>
          <a:xfrm>
            <a:off x="1028700" y="2241352"/>
            <a:ext cx="2143125" cy="175022"/>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SemiBold" pitchFamily="34" charset="0"/>
                <a:ea typeface="Inter SemiBold" pitchFamily="34" charset="-122"/>
                <a:cs typeface="Inter SemiBold" pitchFamily="34" charset="-120"/>
              </a:rPr>
              <a:t>Windows Candidate</a:t>
            </a:r>
            <a:endParaRPr lang="en-US" sz="1000" dirty="0"/>
          </a:p>
        </p:txBody>
      </p:sp>
      <p:sp>
        <p:nvSpPr>
          <p:cNvPr id="12" name="Text 8"/>
          <p:cNvSpPr/>
          <p:nvPr/>
        </p:nvSpPr>
        <p:spPr>
          <a:xfrm>
            <a:off x="3171825" y="2259211"/>
            <a:ext cx="5400675" cy="139303"/>
          </a:xfrm>
          <a:prstGeom prst="rect">
            <a:avLst/>
          </a:prstGeom>
          <a:noFill/>
          <a:ln/>
        </p:spPr>
        <p:txBody>
          <a:bodyPr wrap="square" lIns="0" tIns="0" rIns="0" bIns="0" rtlCol="0" anchor="t">
            <a:spAutoFit/>
          </a:bodyPr>
          <a:lstStyle/>
          <a:p>
            <a:pPr algn="l" indent="0" marL="0">
              <a:buNone/>
            </a:pPr>
            <a:r>
              <a:rPr lang="en-US" sz="850" dirty="0">
                <a:solidFill>
                  <a:srgbClr val="A0A4A8"/>
                </a:solidFill>
                <a:latin typeface="Inter" pitchFamily="34" charset="0"/>
                <a:ea typeface="Inter" pitchFamily="34" charset="-122"/>
                <a:cs typeface="Inter" pitchFamily="34" charset="-120"/>
              </a:rPr>
              <a:t>Build x64/ARM64 packages on Windows; verify unsigned bundle SHA-256.</a:t>
            </a:r>
            <a:endParaRPr lang="en-US" sz="850" dirty="0"/>
          </a:p>
        </p:txBody>
      </p:sp>
      <p:sp>
        <p:nvSpPr>
          <p:cNvPr id="13" name="Shape 9"/>
          <p:cNvSpPr/>
          <p:nvPr/>
        </p:nvSpPr>
        <p:spPr>
          <a:xfrm>
            <a:off x="342900" y="2727127"/>
            <a:ext cx="8458200" cy="567928"/>
          </a:xfrm>
          <a:prstGeom prst="rect">
            <a:avLst/>
          </a:prstGeom>
          <a:solidFill>
            <a:srgbClr val="25282A"/>
          </a:solidFill>
          <a:ln/>
        </p:spPr>
      </p:sp>
      <p:sp>
        <p:nvSpPr>
          <p:cNvPr id="14" name="Text 10"/>
          <p:cNvSpPr/>
          <p:nvPr/>
        </p:nvSpPr>
        <p:spPr>
          <a:xfrm>
            <a:off x="571500" y="2898577"/>
            <a:ext cx="457200" cy="225028"/>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JetBrains Mono" pitchFamily="34" charset="0"/>
                <a:ea typeface="JetBrains Mono" pitchFamily="34" charset="-122"/>
                <a:cs typeface="JetBrains Mono" pitchFamily="34" charset="-120"/>
              </a:rPr>
              <a:t>03</a:t>
            </a:r>
            <a:endParaRPr lang="en-US" sz="1250" dirty="0"/>
          </a:p>
        </p:txBody>
      </p:sp>
      <p:sp>
        <p:nvSpPr>
          <p:cNvPr id="15" name="Text 11"/>
          <p:cNvSpPr/>
          <p:nvPr/>
        </p:nvSpPr>
        <p:spPr>
          <a:xfrm>
            <a:off x="1028700" y="2923580"/>
            <a:ext cx="2143125" cy="175022"/>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SemiBold" pitchFamily="34" charset="0"/>
                <a:ea typeface="Inter SemiBold" pitchFamily="34" charset="-122"/>
                <a:cs typeface="Inter SemiBold" pitchFamily="34" charset="-120"/>
              </a:rPr>
              <a:t>Clean-Device Test</a:t>
            </a:r>
            <a:endParaRPr lang="en-US" sz="1000" dirty="0"/>
          </a:p>
        </p:txBody>
      </p:sp>
      <p:sp>
        <p:nvSpPr>
          <p:cNvPr id="16" name="Text 12"/>
          <p:cNvSpPr/>
          <p:nvPr/>
        </p:nvSpPr>
        <p:spPr>
          <a:xfrm>
            <a:off x="3171825" y="2941439"/>
            <a:ext cx="5400675" cy="139303"/>
          </a:xfrm>
          <a:prstGeom prst="rect">
            <a:avLst/>
          </a:prstGeom>
          <a:noFill/>
          <a:ln/>
        </p:spPr>
        <p:txBody>
          <a:bodyPr wrap="square" lIns="0" tIns="0" rIns="0" bIns="0" rtlCol="0" anchor="t">
            <a:spAutoFit/>
          </a:bodyPr>
          <a:lstStyle/>
          <a:p>
            <a:pPr algn="l" indent="0" marL="0">
              <a:buNone/>
            </a:pPr>
            <a:r>
              <a:rPr lang="en-US" sz="850" dirty="0">
                <a:solidFill>
                  <a:srgbClr val="A0A4A8"/>
                </a:solidFill>
                <a:latin typeface="Inter" pitchFamily="34" charset="0"/>
                <a:ea typeface="Inter" pitchFamily="34" charset="-122"/>
                <a:cs typeface="Inter" pitchFamily="34" charset="-120"/>
              </a:rPr>
              <a:t>Test install, launch, real workflows, and uninstall on clean Windows.</a:t>
            </a:r>
            <a:endParaRPr lang="en-US" sz="850" dirty="0"/>
          </a:p>
        </p:txBody>
      </p:sp>
      <p:sp>
        <p:nvSpPr>
          <p:cNvPr id="17" name="Shape 13"/>
          <p:cNvSpPr/>
          <p:nvPr/>
        </p:nvSpPr>
        <p:spPr>
          <a:xfrm>
            <a:off x="342900" y="3409355"/>
            <a:ext cx="8458200" cy="567928"/>
          </a:xfrm>
          <a:prstGeom prst="rect">
            <a:avLst/>
          </a:prstGeom>
          <a:solidFill>
            <a:srgbClr val="25282A"/>
          </a:solidFill>
          <a:ln/>
        </p:spPr>
      </p:sp>
      <p:sp>
        <p:nvSpPr>
          <p:cNvPr id="18" name="Text 14"/>
          <p:cNvSpPr/>
          <p:nvPr/>
        </p:nvSpPr>
        <p:spPr>
          <a:xfrm>
            <a:off x="571500" y="3580805"/>
            <a:ext cx="457200" cy="225028"/>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JetBrains Mono" pitchFamily="34" charset="0"/>
                <a:ea typeface="JetBrains Mono" pitchFamily="34" charset="-122"/>
                <a:cs typeface="JetBrains Mono" pitchFamily="34" charset="-120"/>
              </a:rPr>
              <a:t>04</a:t>
            </a:r>
            <a:endParaRPr lang="en-US" sz="1250" dirty="0"/>
          </a:p>
        </p:txBody>
      </p:sp>
      <p:sp>
        <p:nvSpPr>
          <p:cNvPr id="19" name="Text 15"/>
          <p:cNvSpPr/>
          <p:nvPr/>
        </p:nvSpPr>
        <p:spPr>
          <a:xfrm>
            <a:off x="1028700" y="3605808"/>
            <a:ext cx="2143125" cy="175022"/>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SemiBold" pitchFamily="34" charset="0"/>
                <a:ea typeface="Inter SemiBold" pitchFamily="34" charset="-122"/>
                <a:cs typeface="Inter SemiBold" pitchFamily="34" charset="-120"/>
              </a:rPr>
              <a:t>Native Captures</a:t>
            </a:r>
            <a:endParaRPr lang="en-US" sz="1000" dirty="0"/>
          </a:p>
        </p:txBody>
      </p:sp>
      <p:sp>
        <p:nvSpPr>
          <p:cNvPr id="20" name="Text 16"/>
          <p:cNvSpPr/>
          <p:nvPr/>
        </p:nvSpPr>
        <p:spPr>
          <a:xfrm>
            <a:off x="3171825" y="3623667"/>
            <a:ext cx="5400675" cy="139303"/>
          </a:xfrm>
          <a:prstGeom prst="rect">
            <a:avLst/>
          </a:prstGeom>
          <a:noFill/>
          <a:ln/>
        </p:spPr>
        <p:txBody>
          <a:bodyPr wrap="square" lIns="0" tIns="0" rIns="0" bIns="0" rtlCol="0" anchor="t">
            <a:spAutoFit/>
          </a:bodyPr>
          <a:lstStyle/>
          <a:p>
            <a:pPr algn="l" indent="0" marL="0">
              <a:buNone/>
            </a:pPr>
            <a:r>
              <a:rPr lang="en-US" sz="850" dirty="0">
                <a:solidFill>
                  <a:srgbClr val="A0A4A8"/>
                </a:solidFill>
                <a:latin typeface="Inter" pitchFamily="34" charset="0"/>
                <a:ea typeface="Inter" pitchFamily="34" charset="-122"/>
                <a:cs typeface="Inter" pitchFamily="34" charset="-120"/>
              </a:rPr>
              <a:t>Capture native screenshots; complete manifest and asset audit.</a:t>
            </a:r>
            <a:endParaRPr lang="en-US" sz="850" dirty="0"/>
          </a:p>
        </p:txBody>
      </p:sp>
      <p:sp>
        <p:nvSpPr>
          <p:cNvPr id="21" name="Shape 17"/>
          <p:cNvSpPr/>
          <p:nvPr/>
        </p:nvSpPr>
        <p:spPr>
          <a:xfrm>
            <a:off x="342900" y="4091583"/>
            <a:ext cx="8458200" cy="567928"/>
          </a:xfrm>
          <a:prstGeom prst="rect">
            <a:avLst/>
          </a:prstGeom>
          <a:solidFill>
            <a:srgbClr val="25282A"/>
          </a:solidFill>
          <a:ln/>
        </p:spPr>
      </p:sp>
      <p:sp>
        <p:nvSpPr>
          <p:cNvPr id="22" name="Text 18"/>
          <p:cNvSpPr/>
          <p:nvPr/>
        </p:nvSpPr>
        <p:spPr>
          <a:xfrm>
            <a:off x="571500" y="4263033"/>
            <a:ext cx="457200" cy="225028"/>
          </a:xfrm>
          <a:prstGeom prst="rect">
            <a:avLst/>
          </a:prstGeom>
          <a:noFill/>
          <a:ln/>
        </p:spPr>
        <p:txBody>
          <a:bodyPr wrap="none" lIns="0" tIns="0" rIns="0" bIns="0" rtlCol="0" anchor="t">
            <a:spAutoFit/>
          </a:bodyPr>
          <a:lstStyle/>
          <a:p>
            <a:pPr algn="l" indent="0" marL="0">
              <a:buNone/>
            </a:pPr>
            <a:r>
              <a:rPr lang="en-US" sz="1250" dirty="0">
                <a:solidFill>
                  <a:srgbClr val="3A3D40"/>
                </a:solidFill>
                <a:latin typeface="JetBrains Mono" pitchFamily="34" charset="0"/>
                <a:ea typeface="JetBrains Mono" pitchFamily="34" charset="-122"/>
                <a:cs typeface="JetBrains Mono" pitchFamily="34" charset="-120"/>
              </a:rPr>
              <a:t>05</a:t>
            </a:r>
            <a:endParaRPr lang="en-US" sz="1250" dirty="0"/>
          </a:p>
        </p:txBody>
      </p:sp>
      <p:sp>
        <p:nvSpPr>
          <p:cNvPr id="23" name="Text 19"/>
          <p:cNvSpPr/>
          <p:nvPr/>
        </p:nvSpPr>
        <p:spPr>
          <a:xfrm>
            <a:off x="1028700" y="4288036"/>
            <a:ext cx="2143125" cy="175022"/>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SemiBold" pitchFamily="34" charset="0"/>
                <a:ea typeface="Inter SemiBold" pitchFamily="34" charset="-122"/>
                <a:cs typeface="Inter SemiBold" pitchFamily="34" charset="-120"/>
              </a:rPr>
              <a:t>Owner Approval</a:t>
            </a:r>
            <a:endParaRPr lang="en-US" sz="1000" dirty="0"/>
          </a:p>
        </p:txBody>
      </p:sp>
      <p:sp>
        <p:nvSpPr>
          <p:cNvPr id="24" name="Text 20"/>
          <p:cNvSpPr/>
          <p:nvPr/>
        </p:nvSpPr>
        <p:spPr>
          <a:xfrm>
            <a:off x="3171825" y="4305895"/>
            <a:ext cx="5400675" cy="139303"/>
          </a:xfrm>
          <a:prstGeom prst="rect">
            <a:avLst/>
          </a:prstGeom>
          <a:noFill/>
          <a:ln/>
        </p:spPr>
        <p:txBody>
          <a:bodyPr wrap="square" lIns="0" tIns="0" rIns="0" bIns="0" rtlCol="0" anchor="t">
            <a:spAutoFit/>
          </a:bodyPr>
          <a:lstStyle/>
          <a:p>
            <a:pPr algn="l" indent="0" marL="0">
              <a:buNone/>
            </a:pPr>
            <a:r>
              <a:rPr lang="en-US" sz="850" dirty="0">
                <a:solidFill>
                  <a:srgbClr val="A0A4A8"/>
                </a:solidFill>
                <a:latin typeface="Inter" pitchFamily="34" charset="0"/>
                <a:ea typeface="Inter" pitchFamily="34" charset="-122"/>
                <a:cs typeface="Inter" pitchFamily="34" charset="-120"/>
              </a:rPr>
              <a:t>Publish URLs, complete IARC, review exact payload, and approve submission.</a:t>
            </a:r>
            <a:endParaRPr lang="en-US" sz="850" dirty="0"/>
          </a:p>
        </p:txBody>
      </p:sp>
      <p:sp>
        <p:nvSpPr>
          <p:cNvPr id="25" name="Text 21"/>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26" name="Text 22"/>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08</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Only Three Final-Candidate Controls Remain</a:t>
            </a:r>
            <a:endParaRPr lang="en-US" sz="1600" dirty="0"/>
          </a:p>
        </p:txBody>
      </p:sp>
      <p:sp>
        <p:nvSpPr>
          <p:cNvPr id="5" name="Shape 1"/>
          <p:cNvSpPr/>
          <p:nvPr/>
        </p:nvSpPr>
        <p:spPr>
          <a:xfrm>
            <a:off x="342900" y="1332309"/>
            <a:ext cx="4057650" cy="3357563"/>
          </a:xfrm>
          <a:prstGeom prst="rect">
            <a:avLst/>
          </a:prstGeom>
          <a:solidFill>
            <a:srgbClr val="25282A"/>
          </a:solidFill>
          <a:ln/>
        </p:spPr>
      </p:sp>
      <p:sp>
        <p:nvSpPr>
          <p:cNvPr id="6" name="Text 2"/>
          <p:cNvSpPr/>
          <p:nvPr/>
        </p:nvSpPr>
        <p:spPr>
          <a:xfrm>
            <a:off x="571500" y="1560909"/>
            <a:ext cx="3600450" cy="132159"/>
          </a:xfrm>
          <a:prstGeom prst="rect">
            <a:avLst/>
          </a:prstGeom>
          <a:noFill/>
          <a:ln/>
        </p:spPr>
        <p:txBody>
          <a:bodyPr wrap="square" lIns="0" tIns="0" rIns="0" bIns="0" rtlCol="0" anchor="t">
            <a:spAutoFit/>
          </a:bodyPr>
          <a:lstStyle/>
          <a:p>
            <a:pPr algn="l" indent="0" marL="0">
              <a:buNone/>
            </a:pPr>
            <a:r>
              <a:rPr lang="en-US" sz="750" dirty="0">
                <a:solidFill>
                  <a:srgbClr val="107CFF"/>
                </a:solidFill>
                <a:latin typeface="JetBrains Mono" pitchFamily="34" charset="0"/>
                <a:ea typeface="JetBrains Mono" pitchFamily="34" charset="-122"/>
                <a:cs typeface="JetBrains Mono" pitchFamily="34" charset="-120"/>
              </a:rPr>
              <a:t>OWNER-CONFIRMED AVAILABLE</a:t>
            </a:r>
            <a:endParaRPr lang="en-US" sz="750" dirty="0"/>
          </a:p>
        </p:txBody>
      </p:sp>
      <p:sp>
        <p:nvSpPr>
          <p:cNvPr id="7" name="Text 3"/>
          <p:cNvSpPr/>
          <p:nvPr/>
        </p:nvSpPr>
        <p:spPr>
          <a:xfrm>
            <a:off x="800100" y="1864519"/>
            <a:ext cx="2139553"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Explicit policies and public policy URLs.</a:t>
            </a:r>
            <a:endParaRPr lang="en-US" sz="850" dirty="0"/>
          </a:p>
        </p:txBody>
      </p:sp>
      <p:sp>
        <p:nvSpPr>
          <p:cNvPr id="8" name="Text 4"/>
          <p:cNvSpPr/>
          <p:nvPr/>
        </p:nvSpPr>
        <p:spPr>
          <a:xfrm>
            <a:off x="800100" y="2138828"/>
            <a:ext cx="1682353"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Matching Store screenshot set.</a:t>
            </a:r>
            <a:endParaRPr lang="en-US" sz="850" dirty="0"/>
          </a:p>
        </p:txBody>
      </p:sp>
      <p:sp>
        <p:nvSpPr>
          <p:cNvPr id="9" name="Text 5"/>
          <p:cNvSpPr/>
          <p:nvPr/>
        </p:nvSpPr>
        <p:spPr>
          <a:xfrm>
            <a:off x="800100" y="2413136"/>
            <a:ext cx="335399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Listing metadata, copy, Keywords, and commercial selections.</a:t>
            </a:r>
            <a:endParaRPr lang="en-US" sz="850" dirty="0"/>
          </a:p>
        </p:txBody>
      </p:sp>
      <p:sp>
        <p:nvSpPr>
          <p:cNvPr id="10" name="Text 6"/>
          <p:cNvSpPr/>
          <p:nvPr/>
        </p:nvSpPr>
        <p:spPr>
          <a:xfrm>
            <a:off x="800100" y="2687445"/>
            <a:ext cx="3314700"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Policy and screenshot assets retain their original provenance.</a:t>
            </a:r>
            <a:endParaRPr lang="en-US" sz="850" dirty="0"/>
          </a:p>
        </p:txBody>
      </p:sp>
      <p:sp>
        <p:nvSpPr>
          <p:cNvPr id="11" name="Shape 7"/>
          <p:cNvSpPr/>
          <p:nvPr/>
        </p:nvSpPr>
        <p:spPr>
          <a:xfrm>
            <a:off x="4743450" y="1332309"/>
            <a:ext cx="4057650" cy="3357563"/>
          </a:xfrm>
          <a:prstGeom prst="rect">
            <a:avLst/>
          </a:prstGeom>
          <a:solidFill>
            <a:srgbClr val="25282A"/>
          </a:solidFill>
          <a:ln/>
        </p:spPr>
      </p:sp>
      <p:sp>
        <p:nvSpPr>
          <p:cNvPr id="12" name="Text 8"/>
          <p:cNvSpPr/>
          <p:nvPr/>
        </p:nvSpPr>
        <p:spPr>
          <a:xfrm>
            <a:off x="4972050" y="1560909"/>
            <a:ext cx="3600450" cy="132159"/>
          </a:xfrm>
          <a:prstGeom prst="rect">
            <a:avLst/>
          </a:prstGeom>
          <a:noFill/>
          <a:ln/>
        </p:spPr>
        <p:txBody>
          <a:bodyPr wrap="square" lIns="0" tIns="0" rIns="0" bIns="0" rtlCol="0" anchor="t">
            <a:spAutoFit/>
          </a:bodyPr>
          <a:lstStyle/>
          <a:p>
            <a:pPr algn="l" indent="0" marL="0">
              <a:buNone/>
            </a:pPr>
            <a:r>
              <a:rPr lang="en-US" sz="750" dirty="0">
                <a:solidFill>
                  <a:srgbClr val="FFB900"/>
                </a:solidFill>
                <a:latin typeface="JetBrains Mono" pitchFamily="34" charset="0"/>
                <a:ea typeface="JetBrains Mono" pitchFamily="34" charset="-122"/>
                <a:cs typeface="JetBrains Mono" pitchFamily="34" charset="-120"/>
              </a:rPr>
              <a:t>THREE REMAINING CONTROLS</a:t>
            </a:r>
            <a:endParaRPr lang="en-US" sz="750" dirty="0"/>
          </a:p>
        </p:txBody>
      </p:sp>
      <p:sp>
        <p:nvSpPr>
          <p:cNvPr id="13" name="Text 9"/>
          <p:cNvSpPr/>
          <p:nvPr/>
        </p:nvSpPr>
        <p:spPr>
          <a:xfrm>
            <a:off x="5200650" y="1864519"/>
            <a:ext cx="3371850"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Place exact Partner Center identity values in protected build inputs.</a:t>
            </a:r>
            <a:endParaRPr lang="en-US" sz="850" dirty="0"/>
          </a:p>
        </p:txBody>
      </p:sp>
      <p:sp>
        <p:nvSpPr>
          <p:cNvPr id="14" name="Text 10"/>
          <p:cNvSpPr/>
          <p:nvPr/>
        </p:nvSpPr>
        <p:spPr>
          <a:xfrm>
            <a:off x="5200650" y="2298836"/>
            <a:ext cx="306466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Independently verify the resulting final unsigned bundle.</a:t>
            </a:r>
            <a:endParaRPr lang="en-US" sz="850" dirty="0"/>
          </a:p>
        </p:txBody>
      </p:sp>
      <p:sp>
        <p:nvSpPr>
          <p:cNvPr id="15" name="Text 11"/>
          <p:cNvSpPr/>
          <p:nvPr/>
        </p:nvSpPr>
        <p:spPr>
          <a:xfrm>
            <a:off x="5200650" y="2573145"/>
            <a:ext cx="3371850"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Run clean-Windows install, launch, workflow, and uninstall test.</a:t>
            </a:r>
            <a:endParaRPr lang="en-US" sz="850" dirty="0"/>
          </a:p>
        </p:txBody>
      </p:sp>
      <p:sp>
        <p:nvSpPr>
          <p:cNvPr id="16" name="Text 12"/>
          <p:cNvSpPr/>
          <p:nvPr/>
        </p:nvSpPr>
        <p:spPr>
          <a:xfrm>
            <a:off x="5200650" y="3007463"/>
            <a:ext cx="3371850"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FFFFFF"/>
                </a:solidFill>
                <a:latin typeface="Inter" pitchFamily="34" charset="0"/>
                <a:ea typeface="Inter" pitchFamily="34" charset="-122"/>
                <a:cs typeface="Inter" pitchFamily="34" charset="-120"/>
              </a:rPr>
              <a:t>Bind existing screenshots and URLs to final manifest; recapture only if UI changes.</a:t>
            </a:r>
            <a:endParaRPr lang="en-US" sz="850" dirty="0"/>
          </a:p>
        </p:txBody>
      </p:sp>
      <p:sp>
        <p:nvSpPr>
          <p:cNvPr id="17" name="Text 13"/>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18" name="Text 14"/>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09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42900" y="714375"/>
            <a:ext cx="8458200" cy="275034"/>
          </a:xfrm>
          <a:prstGeom prst="rect">
            <a:avLst/>
          </a:prstGeom>
          <a:noFill/>
          <a:ln/>
        </p:spPr>
        <p:txBody>
          <a:bodyPr wrap="square" lIns="0" tIns="0" rIns="0" bIns="0" rtlCol="0" anchor="t">
            <a:spAutoFit/>
          </a:bodyPr>
          <a:lstStyle/>
          <a:p>
            <a:pPr algn="l" indent="0" marL="0">
              <a:buNone/>
            </a:pPr>
            <a:r>
              <a:rPr lang="en-US" sz="1600" b="1" spc="-1" kern="0" dirty="0">
                <a:solidFill>
                  <a:srgbClr val="FFFFFF"/>
                </a:solidFill>
                <a:latin typeface="Inter Bold" pitchFamily="34" charset="0"/>
                <a:ea typeface="Inter Bold" pitchFamily="34" charset="-122"/>
                <a:cs typeface="Inter Bold" pitchFamily="34" charset="-120"/>
              </a:rPr>
              <a:t>Decision: Bind, Verify, Test</a:t>
            </a:r>
            <a:endParaRPr lang="en-US" sz="1600" dirty="0"/>
          </a:p>
        </p:txBody>
      </p:sp>
      <p:sp>
        <p:nvSpPr>
          <p:cNvPr id="5" name="Shape 1"/>
          <p:cNvSpPr/>
          <p:nvPr/>
        </p:nvSpPr>
        <p:spPr>
          <a:xfrm>
            <a:off x="1000125" y="2202061"/>
            <a:ext cx="3400425" cy="1618059"/>
          </a:xfrm>
          <a:prstGeom prst="rect">
            <a:avLst/>
          </a:prstGeom>
          <a:solidFill>
            <a:srgbClr val="25282A"/>
          </a:solidFill>
          <a:ln/>
        </p:spPr>
      </p:sp>
      <p:sp>
        <p:nvSpPr>
          <p:cNvPr id="6" name="Shape 2"/>
          <p:cNvSpPr/>
          <p:nvPr/>
        </p:nvSpPr>
        <p:spPr>
          <a:xfrm>
            <a:off x="1000125" y="2202061"/>
            <a:ext cx="3400425" cy="28575"/>
          </a:xfrm>
          <a:prstGeom prst="rect">
            <a:avLst/>
          </a:prstGeom>
          <a:solidFill>
            <a:srgbClr val="107CFF"/>
          </a:solidFill>
          <a:ln/>
        </p:spPr>
      </p:sp>
      <p:sp>
        <p:nvSpPr>
          <p:cNvPr id="7" name="Text 3"/>
          <p:cNvSpPr/>
          <p:nvPr/>
        </p:nvSpPr>
        <p:spPr>
          <a:xfrm>
            <a:off x="1343025" y="2544961"/>
            <a:ext cx="2714625" cy="210741"/>
          </a:xfrm>
          <a:prstGeom prst="rect">
            <a:avLst/>
          </a:prstGeom>
          <a:noFill/>
          <a:ln/>
        </p:spPr>
        <p:txBody>
          <a:bodyPr wrap="square" lIns="0" tIns="0" rIns="0" bIns="0" rtlCol="0" anchor="t">
            <a:spAutoFit/>
          </a:bodyPr>
          <a:lstStyle/>
          <a:p>
            <a:pPr algn="ctr" indent="0" marL="0">
              <a:buNone/>
            </a:pPr>
            <a:r>
              <a:rPr lang="en-US" sz="1200" b="1" dirty="0">
                <a:solidFill>
                  <a:srgbClr val="FFFFFF"/>
                </a:solidFill>
                <a:latin typeface="Inter SemiBold" pitchFamily="34" charset="0"/>
                <a:ea typeface="Inter SemiBold" pitchFamily="34" charset="-122"/>
                <a:cs typeface="Inter SemiBold" pitchFamily="34" charset="-120"/>
              </a:rPr>
              <a:t>1. Bind</a:t>
            </a:r>
            <a:endParaRPr lang="en-US" sz="1200" dirty="0"/>
          </a:p>
        </p:txBody>
      </p:sp>
      <p:sp>
        <p:nvSpPr>
          <p:cNvPr id="8" name="Text 4"/>
          <p:cNvSpPr/>
          <p:nvPr/>
        </p:nvSpPr>
        <p:spPr>
          <a:xfrm>
            <a:off x="1343025" y="2870002"/>
            <a:ext cx="2714625" cy="578644"/>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A0A4A8"/>
                </a:solidFill>
                <a:latin typeface="Inter" pitchFamily="34" charset="0"/>
                <a:ea typeface="Inter" pitchFamily="34" charset="-122"/>
                <a:cs typeface="Inter" pitchFamily="34" charset="-120"/>
              </a:rPr>
              <a:t>Select the exact candidate commit and apply protected Partner Center identity values.</a:t>
            </a:r>
            <a:endParaRPr lang="en-US" sz="950" dirty="0"/>
          </a:p>
        </p:txBody>
      </p:sp>
      <p:sp>
        <p:nvSpPr>
          <p:cNvPr id="9" name="Shape 5"/>
          <p:cNvSpPr/>
          <p:nvPr/>
        </p:nvSpPr>
        <p:spPr>
          <a:xfrm>
            <a:off x="4743450" y="2202061"/>
            <a:ext cx="3400425" cy="1618059"/>
          </a:xfrm>
          <a:prstGeom prst="rect">
            <a:avLst/>
          </a:prstGeom>
          <a:solidFill>
            <a:srgbClr val="25282A"/>
          </a:solidFill>
          <a:ln/>
        </p:spPr>
      </p:sp>
      <p:sp>
        <p:nvSpPr>
          <p:cNvPr id="10" name="Shape 6"/>
          <p:cNvSpPr/>
          <p:nvPr/>
        </p:nvSpPr>
        <p:spPr>
          <a:xfrm>
            <a:off x="4743450" y="2202061"/>
            <a:ext cx="3400425" cy="28575"/>
          </a:xfrm>
          <a:prstGeom prst="rect">
            <a:avLst/>
          </a:prstGeom>
          <a:solidFill>
            <a:srgbClr val="FFB900"/>
          </a:solidFill>
          <a:ln/>
        </p:spPr>
      </p:sp>
      <p:sp>
        <p:nvSpPr>
          <p:cNvPr id="11" name="Text 7"/>
          <p:cNvSpPr/>
          <p:nvPr/>
        </p:nvSpPr>
        <p:spPr>
          <a:xfrm>
            <a:off x="5086350" y="2559248"/>
            <a:ext cx="2714625" cy="210741"/>
          </a:xfrm>
          <a:prstGeom prst="rect">
            <a:avLst/>
          </a:prstGeom>
          <a:noFill/>
          <a:ln/>
        </p:spPr>
        <p:txBody>
          <a:bodyPr wrap="square" lIns="0" tIns="0" rIns="0" bIns="0" rtlCol="0" anchor="t">
            <a:spAutoFit/>
          </a:bodyPr>
          <a:lstStyle/>
          <a:p>
            <a:pPr algn="ctr" indent="0" marL="0">
              <a:buNone/>
            </a:pPr>
            <a:r>
              <a:rPr lang="en-US" sz="1200" b="1" dirty="0">
                <a:solidFill>
                  <a:srgbClr val="FFFFFF"/>
                </a:solidFill>
                <a:latin typeface="Inter SemiBold" pitchFamily="34" charset="0"/>
                <a:ea typeface="Inter SemiBold" pitchFamily="34" charset="-122"/>
                <a:cs typeface="Inter SemiBold" pitchFamily="34" charset="-120"/>
              </a:rPr>
              <a:t>2. Verify &amp; Test</a:t>
            </a:r>
            <a:endParaRPr lang="en-US" sz="1200" dirty="0"/>
          </a:p>
        </p:txBody>
      </p:sp>
      <p:sp>
        <p:nvSpPr>
          <p:cNvPr id="12" name="Text 8"/>
          <p:cNvSpPr/>
          <p:nvPr/>
        </p:nvSpPr>
        <p:spPr>
          <a:xfrm>
            <a:off x="5086350" y="2884289"/>
            <a:ext cx="2714625" cy="578644"/>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A0A4A8"/>
                </a:solidFill>
                <a:latin typeface="Inter" pitchFamily="34" charset="0"/>
                <a:ea typeface="Inter" pitchFamily="34" charset="-122"/>
                <a:cs typeface="Inter" pitchFamily="34" charset="-120"/>
              </a:rPr>
              <a:t>Independently verify the final unsigned bundle, then run the matching clean-Windows test.</a:t>
            </a:r>
            <a:endParaRPr lang="en-US" sz="950" dirty="0"/>
          </a:p>
        </p:txBody>
      </p:sp>
      <p:sp>
        <p:nvSpPr>
          <p:cNvPr id="13" name="Text 9"/>
          <p:cNvSpPr/>
          <p:nvPr/>
        </p:nvSpPr>
        <p:spPr>
          <a:xfrm>
            <a:off x="342900" y="4689872"/>
            <a:ext cx="650081"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CCTI INTERNAL</a:t>
            </a:r>
            <a:endParaRPr lang="en-US" sz="600" dirty="0"/>
          </a:p>
        </p:txBody>
      </p:sp>
      <p:sp>
        <p:nvSpPr>
          <p:cNvPr id="14" name="Text 10"/>
          <p:cNvSpPr/>
          <p:nvPr/>
        </p:nvSpPr>
        <p:spPr>
          <a:xfrm>
            <a:off x="8701088" y="4689872"/>
            <a:ext cx="100013" cy="110728"/>
          </a:xfrm>
          <a:prstGeom prst="rect">
            <a:avLst/>
          </a:prstGeom>
          <a:noFill/>
          <a:ln/>
        </p:spPr>
        <p:txBody>
          <a:bodyPr wrap="none" lIns="0" tIns="0" rIns="0" bIns="0" rtlCol="0" anchor="t">
            <a:spAutoFit/>
          </a:bodyPr>
          <a:lstStyle/>
          <a:p>
            <a:pPr algn="l" indent="0" marL="0">
              <a:buNone/>
            </a:pPr>
            <a:r>
              <a:rPr lang="en-US" sz="600" dirty="0">
                <a:solidFill>
                  <a:srgbClr val="A0A4A8"/>
                </a:solidFill>
                <a:latin typeface="JetBrains Mono" pitchFamily="34" charset="0"/>
                <a:ea typeface="JetBrains Mono" pitchFamily="34" charset="-122"/>
                <a:cs typeface="JetBrains Mono" pitchFamily="34" charset="-120"/>
              </a:rPr>
              <a:t>10</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2026-09-10T01:07:34Z</dcterms:created>
  <dcterms:modified xsi:type="dcterms:W3CDTF">2026-09-10T01:07:34Z</dcterms:modified>
</cp:coreProperties>
</file>